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7FF7BB-5E88-4213-86FD-BC18128D2E4D}" v="4" dt="2026-10-30T02:48:48.7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d Shrimant" userId="b9f5114846f05220" providerId="LiveId" clId="{350BACA5-79F7-42DD-9130-BFCE99BC8D3D}"/>
    <pc:docChg chg="undo custSel modSld">
      <pc:chgData name="Ved Shrimant" userId="b9f5114846f05220" providerId="LiveId" clId="{350BACA5-79F7-42DD-9130-BFCE99BC8D3D}" dt="2026-10-30T02:48:48.706" v="178"/>
      <pc:docMkLst>
        <pc:docMk/>
      </pc:docMkLst>
      <pc:sldChg chg="delSp modSp mod">
        <pc:chgData name="Ved Shrimant" userId="b9f5114846f05220" providerId="LiveId" clId="{350BACA5-79F7-42DD-9130-BFCE99BC8D3D}" dt="2026-10-30T02:48:09.802" v="176" actId="404"/>
        <pc:sldMkLst>
          <pc:docMk/>
          <pc:sldMk cId="3824518206" sldId="256"/>
        </pc:sldMkLst>
        <pc:spChg chg="del">
          <ac:chgData name="Ved Shrimant" userId="b9f5114846f05220" providerId="LiveId" clId="{350BACA5-79F7-42DD-9130-BFCE99BC8D3D}" dt="2026-10-29T13:29:21.353" v="171" actId="478"/>
          <ac:spMkLst>
            <pc:docMk/>
            <pc:sldMk cId="3824518206" sldId="256"/>
            <ac:spMk id="6" creationId="{F4955AA9-66FD-DE1B-6CD6-98D25FF54DE3}"/>
          </ac:spMkLst>
        </pc:spChg>
        <pc:spChg chg="mod">
          <ac:chgData name="Ved Shrimant" userId="b9f5114846f05220" providerId="LiveId" clId="{350BACA5-79F7-42DD-9130-BFCE99BC8D3D}" dt="2026-10-29T13:29:50.860" v="174" actId="404"/>
          <ac:spMkLst>
            <pc:docMk/>
            <pc:sldMk cId="3824518206" sldId="256"/>
            <ac:spMk id="13" creationId="{04BA96D6-7296-43AE-FDF4-8F240CFEB733}"/>
          </ac:spMkLst>
        </pc:spChg>
        <pc:spChg chg="mod">
          <ac:chgData name="Ved Shrimant" userId="b9f5114846f05220" providerId="LiveId" clId="{350BACA5-79F7-42DD-9130-BFCE99BC8D3D}" dt="2026-10-30T02:48:09.802" v="176" actId="404"/>
          <ac:spMkLst>
            <pc:docMk/>
            <pc:sldMk cId="3824518206" sldId="256"/>
            <ac:spMk id="15" creationId="{36945360-DE20-CED8-B936-8C1FF13E8A9D}"/>
          </ac:spMkLst>
        </pc:spChg>
        <pc:spChg chg="mod">
          <ac:chgData name="Ved Shrimant" userId="b9f5114846f05220" providerId="LiveId" clId="{350BACA5-79F7-42DD-9130-BFCE99BC8D3D}" dt="2026-10-29T13:24:55.755" v="7" actId="404"/>
          <ac:spMkLst>
            <pc:docMk/>
            <pc:sldMk cId="3824518206" sldId="256"/>
            <ac:spMk id="17" creationId="{4D72642E-DA13-9D7E-75CF-6580EE735D9C}"/>
          </ac:spMkLst>
        </pc:spChg>
        <pc:spChg chg="mod">
          <ac:chgData name="Ved Shrimant" userId="b9f5114846f05220" providerId="LiveId" clId="{350BACA5-79F7-42DD-9130-BFCE99BC8D3D}" dt="2026-10-30T02:47:57.786" v="175" actId="404"/>
          <ac:spMkLst>
            <pc:docMk/>
            <pc:sldMk cId="3824518206" sldId="256"/>
            <ac:spMk id="19" creationId="{7C348162-087B-7B90-65DF-01994B4D650B}"/>
          </ac:spMkLst>
        </pc:spChg>
      </pc:sldChg>
      <pc:sldChg chg="modSp mod">
        <pc:chgData name="Ved Shrimant" userId="b9f5114846f05220" providerId="LiveId" clId="{350BACA5-79F7-42DD-9130-BFCE99BC8D3D}" dt="2026-10-29T13:28:00.845" v="165" actId="1038"/>
        <pc:sldMkLst>
          <pc:docMk/>
          <pc:sldMk cId="456506287" sldId="258"/>
        </pc:sldMkLst>
        <pc:spChg chg="mod">
          <ac:chgData name="Ved Shrimant" userId="b9f5114846f05220" providerId="LiveId" clId="{350BACA5-79F7-42DD-9130-BFCE99BC8D3D}" dt="2026-10-29T13:28:00.845" v="165" actId="1038"/>
          <ac:spMkLst>
            <pc:docMk/>
            <pc:sldMk cId="456506287" sldId="258"/>
            <ac:spMk id="2" creationId="{6AB12A93-9821-A4D9-06C9-13E7E756216E}"/>
          </ac:spMkLst>
        </pc:spChg>
        <pc:spChg chg="mod">
          <ac:chgData name="Ved Shrimant" userId="b9f5114846f05220" providerId="LiveId" clId="{350BACA5-79F7-42DD-9130-BFCE99BC8D3D}" dt="2026-10-29T13:27:50.947" v="164" actId="20577"/>
          <ac:spMkLst>
            <pc:docMk/>
            <pc:sldMk cId="456506287" sldId="258"/>
            <ac:spMk id="11" creationId="{CDDE3F03-8605-F05C-F2F5-7558D953B82C}"/>
          </ac:spMkLst>
        </pc:spChg>
        <pc:spChg chg="mod">
          <ac:chgData name="Ved Shrimant" userId="b9f5114846f05220" providerId="LiveId" clId="{350BACA5-79F7-42DD-9130-BFCE99BC8D3D}" dt="2026-10-29T13:25:40.943" v="16" actId="20577"/>
          <ac:spMkLst>
            <pc:docMk/>
            <pc:sldMk cId="456506287" sldId="258"/>
            <ac:spMk id="14" creationId="{73064B4F-A915-286F-F84E-19499034E253}"/>
          </ac:spMkLst>
        </pc:spChg>
        <pc:spChg chg="mod">
          <ac:chgData name="Ved Shrimant" userId="b9f5114846f05220" providerId="LiveId" clId="{350BACA5-79F7-42DD-9130-BFCE99BC8D3D}" dt="2026-10-29T13:25:51.634" v="21" actId="20577"/>
          <ac:spMkLst>
            <pc:docMk/>
            <pc:sldMk cId="456506287" sldId="258"/>
            <ac:spMk id="17" creationId="{BDDBCA59-781E-2925-6F15-8E8E38E52373}"/>
          </ac:spMkLst>
        </pc:spChg>
      </pc:sldChg>
      <pc:sldChg chg="modSp">
        <pc:chgData name="Ved Shrimant" userId="b9f5114846f05220" providerId="LiveId" clId="{350BACA5-79F7-42DD-9130-BFCE99BC8D3D}" dt="2026-10-30T02:48:48.706" v="178"/>
        <pc:sldMkLst>
          <pc:docMk/>
          <pc:sldMk cId="4162128930" sldId="261"/>
        </pc:sldMkLst>
        <pc:spChg chg="mod">
          <ac:chgData name="Ved Shrimant" userId="b9f5114846f05220" providerId="LiveId" clId="{350BACA5-79F7-42DD-9130-BFCE99BC8D3D}" dt="2026-10-30T02:48:48.706" v="178"/>
          <ac:spMkLst>
            <pc:docMk/>
            <pc:sldMk cId="4162128930" sldId="261"/>
            <ac:spMk id="12" creationId="{E1347A5D-F3FF-4B34-FE25-8293AEEB34C1}"/>
          </ac:spMkLst>
        </pc:spChg>
      </pc:sldChg>
      <pc:sldChg chg="modSp mod">
        <pc:chgData name="Ved Shrimant" userId="b9f5114846f05220" providerId="LiveId" clId="{350BACA5-79F7-42DD-9130-BFCE99BC8D3D}" dt="2026-10-29T13:28:44.151" v="169" actId="20577"/>
        <pc:sldMkLst>
          <pc:docMk/>
          <pc:sldMk cId="1454989106" sldId="264"/>
        </pc:sldMkLst>
        <pc:spChg chg="mod">
          <ac:chgData name="Ved Shrimant" userId="b9f5114846f05220" providerId="LiveId" clId="{350BACA5-79F7-42DD-9130-BFCE99BC8D3D}" dt="2026-10-29T13:28:44.151" v="169" actId="20577"/>
          <ac:spMkLst>
            <pc:docMk/>
            <pc:sldMk cId="1454989106" sldId="264"/>
            <ac:spMk id="12" creationId="{547E74C6-FAB0-C6B1-36EB-75AF9B5778C1}"/>
          </ac:spMkLst>
        </pc:spChg>
      </pc:sldChg>
      <pc:sldChg chg="modSp mod">
        <pc:chgData name="Ved Shrimant" userId="b9f5114846f05220" providerId="LiveId" clId="{350BACA5-79F7-42DD-9130-BFCE99BC8D3D}" dt="2026-10-29T13:28:59.440" v="170" actId="20577"/>
        <pc:sldMkLst>
          <pc:docMk/>
          <pc:sldMk cId="2020268602" sldId="267"/>
        </pc:sldMkLst>
        <pc:spChg chg="mod">
          <ac:chgData name="Ved Shrimant" userId="b9f5114846f05220" providerId="LiveId" clId="{350BACA5-79F7-42DD-9130-BFCE99BC8D3D}" dt="2026-10-29T13:28:59.440" v="170" actId="20577"/>
          <ac:spMkLst>
            <pc:docMk/>
            <pc:sldMk cId="2020268602" sldId="267"/>
            <ac:spMk id="18" creationId="{59344754-7B5B-2EBC-1CC0-102E4D25968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0A907F-7617-4F48-9AC6-7DA14A4C9D6F}" type="datetimeFigureOut">
              <a:rPr lang="en-IN" smtClean="0"/>
              <a:t>30-10-2026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3FA0D-CE57-4EFC-A297-DF3D23C1E137}" type="slidenum">
              <a:rPr lang="en-IN" smtClean="0"/>
              <a:t>‹#›</a:t>
            </a:fld>
            <a:endParaRPr lang="en-IN"/>
          </a:p>
        </p:txBody>
      </p:sp>
    </p:spTree>
    <p:extLst>
      <p:ext uri="{BB962C8B-B14F-4D97-AF65-F5344CB8AC3E}">
        <p14:creationId xmlns:p14="http://schemas.microsoft.com/office/powerpoint/2010/main" val="4155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JUDGE BRIEFING (Slide 1):
Respected Examination Committee, welcome to the final presentation of our project: Two-Tier LLM Inference and Semantic Caching Architecture.
In production AI, serving LLMs directly over HTTP introduces serious latency bottlenecks and soaring cloud API costs. Our system introduces a novel two-tier caching engine that eliminates redundant inference. Exact queries hit an O(1) hash table in under 1 millisecond, while paraphrased queries hit a dense vector semantic cache in under 8 milliseconds, achieving 100% precision with zero false positives. Let us examine the problem statement and motivation.</a:t>
            </a:r>
            <a:endParaRPr lang="en-IN"/>
          </a:p>
        </p:txBody>
      </p:sp>
      <p:sp>
        <p:nvSpPr>
          <p:cNvPr id="4" name="Slide Number Placeholder 3"/>
          <p:cNvSpPr>
            <a:spLocks noGrp="1"/>
          </p:cNvSpPr>
          <p:nvPr>
            <p:ph type="sldNum" sz="quarter" idx="5"/>
          </p:nvPr>
        </p:nvSpPr>
        <p:spPr/>
        <p:txBody>
          <a:bodyPr/>
          <a:lstStyle/>
          <a:p>
            <a:fld id="{A783FA0D-CE57-4EFC-A297-DF3D23C1E137}" type="slidenum">
              <a:rPr lang="en-IN" smtClean="0"/>
              <a:t>1</a:t>
            </a:fld>
            <a:endParaRPr lang="en-IN"/>
          </a:p>
        </p:txBody>
      </p:sp>
    </p:spTree>
    <p:extLst>
      <p:ext uri="{BB962C8B-B14F-4D97-AF65-F5344CB8AC3E}">
        <p14:creationId xmlns:p14="http://schemas.microsoft.com/office/powerpoint/2010/main" val="1305456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JUDGE BRIEFING (Slide 2):
When deploying LLMs to real users, we face three crippling challenges:
1. Latency: Remote inference takes anywhere from 400 milliseconds to multiple seconds.
2. Cost: Token charges accumulate linearly. An enterprise answering thousands of customer questions pays repeatedly for identical knowledge.
3. Traditional Caching Fails: A standard Redis cache hashes the raw text string. If a user changes even one word, asking 'What is the capital of France?' versus 'Which city is France capital?', the exact hash misses completely.
Our objective was to design a two-tier architecture solving both exact and semantic redundancy.</a:t>
            </a:r>
            <a:endParaRPr lang="en-IN"/>
          </a:p>
        </p:txBody>
      </p:sp>
      <p:sp>
        <p:nvSpPr>
          <p:cNvPr id="4" name="Slide Number Placeholder 3"/>
          <p:cNvSpPr>
            <a:spLocks noGrp="1"/>
          </p:cNvSpPr>
          <p:nvPr>
            <p:ph type="sldNum" sz="quarter" idx="5"/>
          </p:nvPr>
        </p:nvSpPr>
        <p:spPr/>
        <p:txBody>
          <a:bodyPr/>
          <a:lstStyle/>
          <a:p>
            <a:fld id="{A783FA0D-CE57-4EFC-A297-DF3D23C1E137}" type="slidenum">
              <a:rPr lang="en-IN" smtClean="0"/>
              <a:t>2</a:t>
            </a:fld>
            <a:endParaRPr lang="en-IN"/>
          </a:p>
        </p:txBody>
      </p:sp>
    </p:spTree>
    <p:extLst>
      <p:ext uri="{BB962C8B-B14F-4D97-AF65-F5344CB8AC3E}">
        <p14:creationId xmlns:p14="http://schemas.microsoft.com/office/powerpoint/2010/main" val="1974273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JUDGE BRIEFING (Slide 3):
Here is our three-stage cascade:
First, Tier 1 checks an exact in-memory hash map using a 3-stage cascade: strict budget match, cross-budget match, and normalized string match. If found, it returns in sub-millisecond time with 0 compute.
Second, if Tier 1 misses, Tier 2 executes locally. It tokenizes the prompt, computes a 384-dimensional dense sentence embedding using all-MiniLM-L6-v2, and computes cosine similarity against all cached entries. If the top similarity score is &gt;= 0.90, it returns the cached response.
Third, if both tiers miss, the system dispatches asynchronously to the Groq Cloud API running Qwen 2.5 27B on Groq LPUs. As soon as the completion arrives, it is indexed into both Tier 1 and Tier 2 so all subsequent paraphrases are intercepted.</a:t>
            </a:r>
            <a:endParaRPr lang="en-IN"/>
          </a:p>
        </p:txBody>
      </p:sp>
      <p:sp>
        <p:nvSpPr>
          <p:cNvPr id="4" name="Slide Number Placeholder 3"/>
          <p:cNvSpPr>
            <a:spLocks noGrp="1"/>
          </p:cNvSpPr>
          <p:nvPr>
            <p:ph type="sldNum" sz="quarter" idx="5"/>
          </p:nvPr>
        </p:nvSpPr>
        <p:spPr/>
        <p:txBody>
          <a:bodyPr/>
          <a:lstStyle/>
          <a:p>
            <a:fld id="{A783FA0D-CE57-4EFC-A297-DF3D23C1E137}" type="slidenum">
              <a:rPr lang="en-IN" smtClean="0"/>
              <a:t>3</a:t>
            </a:fld>
            <a:endParaRPr lang="en-IN"/>
          </a:p>
        </p:txBody>
      </p:sp>
    </p:spTree>
    <p:extLst>
      <p:ext uri="{BB962C8B-B14F-4D97-AF65-F5344CB8AC3E}">
        <p14:creationId xmlns:p14="http://schemas.microsoft.com/office/powerpoint/2010/main" val="36135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JUDGE BRIEFING (Slide 4):
Our project represents an authentic engineering journey across 4 distinct evolutionary phases, visible in the codebase folders:
In Phase 1, we built a baseline server running GPT-2 on CPU. It suffered from serial head-of-line blocking.
In Phase 2, we decoupled HTTP ingestion from PyTorch using asyncio.Queue and background worker threads.
In Phase 3, we implemented dynamic left-padded request batching with window timeouts to maximize token throughput.
In Phase 4, we introduced exact-match caching, and in the Root production stage (server.py), we integrated dense semantic cosine caching with Groq Cloud LPUs, creating our final enterprise system.</a:t>
            </a:r>
            <a:endParaRPr lang="en-IN"/>
          </a:p>
        </p:txBody>
      </p:sp>
      <p:sp>
        <p:nvSpPr>
          <p:cNvPr id="4" name="Slide Number Placeholder 3"/>
          <p:cNvSpPr>
            <a:spLocks noGrp="1"/>
          </p:cNvSpPr>
          <p:nvPr>
            <p:ph type="sldNum" sz="quarter" idx="5"/>
          </p:nvPr>
        </p:nvSpPr>
        <p:spPr/>
        <p:txBody>
          <a:bodyPr/>
          <a:lstStyle/>
          <a:p>
            <a:fld id="{A783FA0D-CE57-4EFC-A297-DF3D23C1E137}" type="slidenum">
              <a:rPr lang="en-IN" smtClean="0"/>
              <a:t>4</a:t>
            </a:fld>
            <a:endParaRPr lang="en-IN"/>
          </a:p>
        </p:txBody>
      </p:sp>
    </p:spTree>
    <p:extLst>
      <p:ext uri="{BB962C8B-B14F-4D97-AF65-F5344CB8AC3E}">
        <p14:creationId xmlns:p14="http://schemas.microsoft.com/office/powerpoint/2010/main" val="4718329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JUDGE BRIEFING (Slide 5):
This slide maps the complete end-to-end lifecycle of every HTTP request:
When a query arrives at /generate, it is tagged with an arrival timestamp and UUID.
It immediately checks Tier 1. If identical, it bypasses inference completely.
If Tier 1 misses, Tier 2 executes locally on CPU: it embeds the sentence, normalizes it onto the unit hypersphere, and computes dot products against all cached items.
If both tiers miss, the system issues an async HTTP request to Groq Cloud API, retrieves the completion, caches both the text and vector, writes a structured audit log to telemetry_metrics.jsonl, and renders the result on the UI.</a:t>
            </a:r>
            <a:endParaRPr lang="en-IN"/>
          </a:p>
        </p:txBody>
      </p:sp>
      <p:sp>
        <p:nvSpPr>
          <p:cNvPr id="4" name="Slide Number Placeholder 3"/>
          <p:cNvSpPr>
            <a:spLocks noGrp="1"/>
          </p:cNvSpPr>
          <p:nvPr>
            <p:ph type="sldNum" sz="quarter" idx="5"/>
          </p:nvPr>
        </p:nvSpPr>
        <p:spPr/>
        <p:txBody>
          <a:bodyPr/>
          <a:lstStyle/>
          <a:p>
            <a:fld id="{A783FA0D-CE57-4EFC-A297-DF3D23C1E137}" type="slidenum">
              <a:rPr lang="en-IN" smtClean="0"/>
              <a:t>5</a:t>
            </a:fld>
            <a:endParaRPr lang="en-IN"/>
          </a:p>
        </p:txBody>
      </p:sp>
    </p:spTree>
    <p:extLst>
      <p:ext uri="{BB962C8B-B14F-4D97-AF65-F5344CB8AC3E}">
        <p14:creationId xmlns:p14="http://schemas.microsoft.com/office/powerpoint/2010/main" val="994606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JUDGE BRIEFING (Slide 6):
Here is the mathematical rigor behind Tier 2:
First, our local MiniLM model converts prompt tokens into 384-dimensional vectors.
Second, we apply attention-masked mean pooling. Naive pooling averages padding tokens, distorting the sentence vector. Attention-masked pooling ensures only genuine semantic tokens are averaged.
Third, we normalize every vector to unit length (L2 norm = 1.0), projecting each prompt onto a unit hypersphere.
Fourth, this gives us a tremendous computational advantage: cosine similarity simplifies from an expensive division and norm calculation to a raw vector dot product! Calculating dot products against hundreds of cached queries takes under 0.1 milliseconds on standard CPU.</a:t>
            </a:r>
            <a:endParaRPr lang="en-IN"/>
          </a:p>
        </p:txBody>
      </p:sp>
      <p:sp>
        <p:nvSpPr>
          <p:cNvPr id="4" name="Slide Number Placeholder 3"/>
          <p:cNvSpPr>
            <a:spLocks noGrp="1"/>
          </p:cNvSpPr>
          <p:nvPr>
            <p:ph type="sldNum" sz="quarter" idx="5"/>
          </p:nvPr>
        </p:nvSpPr>
        <p:spPr/>
        <p:txBody>
          <a:bodyPr/>
          <a:lstStyle/>
          <a:p>
            <a:fld id="{A783FA0D-CE57-4EFC-A297-DF3D23C1E137}" type="slidenum">
              <a:rPr lang="en-IN" smtClean="0"/>
              <a:t>6</a:t>
            </a:fld>
            <a:endParaRPr lang="en-IN"/>
          </a:p>
        </p:txBody>
      </p:sp>
    </p:spTree>
    <p:extLst>
      <p:ext uri="{BB962C8B-B14F-4D97-AF65-F5344CB8AC3E}">
        <p14:creationId xmlns:p14="http://schemas.microsoft.com/office/powerpoint/2010/main" val="4264185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JUDGE BRIEFING (Slide 7):
This is the cornerstone of our academic evaluation. Anyone can build a semantic cache, but a naive semantic cache hallucinates.
We wrote evaluate_semantic_pooling.py and tested 22 curated prompt pairs: 11 true paraphrases and 11 difficult negative distractors like entity swaps, negations, and temporal shifts.
Notice the threshold sweep table:
If you set the threshold to 0.80, precision drops to 68.8%. When a user asks 'What is the capital of Spain?', the cache matches 'What is the capital of France?' and returns Paris! That is catastrophic.
However, at tau = 0.90, precision reaches 100% with ZERO false positives, while still capturing 90.9% of true paraphrases. This proves tau = 0.90 is the mathematically sound production boundary.</a:t>
            </a:r>
            <a:endParaRPr lang="en-IN"/>
          </a:p>
        </p:txBody>
      </p:sp>
      <p:sp>
        <p:nvSpPr>
          <p:cNvPr id="4" name="Slide Number Placeholder 3"/>
          <p:cNvSpPr>
            <a:spLocks noGrp="1"/>
          </p:cNvSpPr>
          <p:nvPr>
            <p:ph type="sldNum" sz="quarter" idx="5"/>
          </p:nvPr>
        </p:nvSpPr>
        <p:spPr/>
        <p:txBody>
          <a:bodyPr/>
          <a:lstStyle/>
          <a:p>
            <a:fld id="{A783FA0D-CE57-4EFC-A297-DF3D23C1E137}" type="slidenum">
              <a:rPr lang="en-IN" smtClean="0"/>
              <a:t>7</a:t>
            </a:fld>
            <a:endParaRPr lang="en-IN"/>
          </a:p>
        </p:txBody>
      </p:sp>
    </p:spTree>
    <p:extLst>
      <p:ext uri="{BB962C8B-B14F-4D97-AF65-F5344CB8AC3E}">
        <p14:creationId xmlns:p14="http://schemas.microsoft.com/office/powerpoint/2010/main" val="2473298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JUDGE BRIEFING (Slide 8):
Here are the empirical benchmark numbers produced by our benchmark.py script:
We tested three operational modes under equivalent loads:
In Mode 1 (baseline direct Groq LLM), p50 latency is 392.9ms with 0% hit rate.
In Mode 2 (Tier 1 exact match), p50 latency improves to 268.3ms on identical queries.
In Mode 3 (our full Two-Tier engine), p50 latency plummets to 82.6msâ€</a:t>
            </a:r>
            <a:endParaRPr lang="en-IN"/>
          </a:p>
        </p:txBody>
      </p:sp>
      <p:sp>
        <p:nvSpPr>
          <p:cNvPr id="4" name="Slide Number Placeholder 3"/>
          <p:cNvSpPr>
            <a:spLocks noGrp="1"/>
          </p:cNvSpPr>
          <p:nvPr>
            <p:ph type="sldNum" sz="quarter" idx="5"/>
          </p:nvPr>
        </p:nvSpPr>
        <p:spPr/>
        <p:txBody>
          <a:bodyPr/>
          <a:lstStyle/>
          <a:p>
            <a:fld id="{A783FA0D-CE57-4EFC-A297-DF3D23C1E137}" type="slidenum">
              <a:rPr lang="en-IN" smtClean="0"/>
              <a:t>8</a:t>
            </a:fld>
            <a:endParaRPr lang="en-IN"/>
          </a:p>
        </p:txBody>
      </p:sp>
    </p:spTree>
    <p:extLst>
      <p:ext uri="{BB962C8B-B14F-4D97-AF65-F5344CB8AC3E}">
        <p14:creationId xmlns:p14="http://schemas.microsoft.com/office/powerpoint/2010/main" val="30511717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JUDGE BRIEFING (Slide 9):
A major highlight of our implementation is the financial and environmental ROI model integrated into the dashboard.
Our system calculates exact dollar savings dynamically across multiple model rates (Groq, GPT-4o, Claude 3.5).
Furthermore, we incorporated green AI accounting: each 1,000 avoided tokens saves approximately 0.12 grams of CO2 equivalent in cloud data center power consumption. At scale, caching transforms both enterprise margins and environmental sustainability.</a:t>
            </a:r>
            <a:endParaRPr lang="en-IN"/>
          </a:p>
        </p:txBody>
      </p:sp>
      <p:sp>
        <p:nvSpPr>
          <p:cNvPr id="4" name="Slide Number Placeholder 3"/>
          <p:cNvSpPr>
            <a:spLocks noGrp="1"/>
          </p:cNvSpPr>
          <p:nvPr>
            <p:ph type="sldNum" sz="quarter" idx="5"/>
          </p:nvPr>
        </p:nvSpPr>
        <p:spPr/>
        <p:txBody>
          <a:bodyPr/>
          <a:lstStyle/>
          <a:p>
            <a:fld id="{A783FA0D-CE57-4EFC-A297-DF3D23C1E137}" type="slidenum">
              <a:rPr lang="en-IN" smtClean="0"/>
              <a:t>9</a:t>
            </a:fld>
            <a:endParaRPr lang="en-IN"/>
          </a:p>
        </p:txBody>
      </p:sp>
    </p:spTree>
    <p:extLst>
      <p:ext uri="{BB962C8B-B14F-4D97-AF65-F5344CB8AC3E}">
        <p14:creationId xmlns:p14="http://schemas.microsoft.com/office/powerpoint/2010/main" val="703817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JUDGE BRIEFING (Slide 10):
Our user interface (index.html) was built from scratch using Tailwind CSS, Geist typography, and Material Symbols, avoiding any generic AI templates.
It features four key subsystems:
1. A live Playground with interactive paraphrase chips and threshold sliders.
2. Transparency Banners that explain every cache decision, showing whether a hit was exact or semantic along with the matched prompt and similarity score.
3. A live Cache Inspector allowing row-by-row inspection and eviction.
4. A Vector Inspector tab executing real-time k-NN search across cached embeddings, plus deep modal request inspection.</a:t>
            </a:r>
            <a:endParaRPr lang="en-IN"/>
          </a:p>
        </p:txBody>
      </p:sp>
      <p:sp>
        <p:nvSpPr>
          <p:cNvPr id="4" name="Slide Number Placeholder 3"/>
          <p:cNvSpPr>
            <a:spLocks noGrp="1"/>
          </p:cNvSpPr>
          <p:nvPr>
            <p:ph type="sldNum" sz="quarter" idx="5"/>
          </p:nvPr>
        </p:nvSpPr>
        <p:spPr/>
        <p:txBody>
          <a:bodyPr/>
          <a:lstStyle/>
          <a:p>
            <a:fld id="{A783FA0D-CE57-4EFC-A297-DF3D23C1E137}" type="slidenum">
              <a:rPr lang="en-IN" smtClean="0"/>
              <a:t>10</a:t>
            </a:fld>
            <a:endParaRPr lang="en-IN"/>
          </a:p>
        </p:txBody>
      </p:sp>
    </p:spTree>
    <p:extLst>
      <p:ext uri="{BB962C8B-B14F-4D97-AF65-F5344CB8AC3E}">
        <p14:creationId xmlns:p14="http://schemas.microsoft.com/office/powerpoint/2010/main" val="75561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JUDGE BRIEFING (Slide 11):
Software reliability is paramount for production systems. Our codebase includes test.py, an end-to-end integration test suite covering 9 automated test scenarios:
Health checks, cold misses, exact hits, semantic hits, negative distractor rejection, TTL lazy eviction, selective row clearing, full cache purging, and telemetry schema validation.
The codebase is modular, clean, and comprehensively documented.</a:t>
            </a:r>
            <a:endParaRPr lang="en-IN"/>
          </a:p>
        </p:txBody>
      </p:sp>
      <p:sp>
        <p:nvSpPr>
          <p:cNvPr id="4" name="Slide Number Placeholder 3"/>
          <p:cNvSpPr>
            <a:spLocks noGrp="1"/>
          </p:cNvSpPr>
          <p:nvPr>
            <p:ph type="sldNum" sz="quarter" idx="5"/>
          </p:nvPr>
        </p:nvSpPr>
        <p:spPr/>
        <p:txBody>
          <a:bodyPr/>
          <a:lstStyle/>
          <a:p>
            <a:fld id="{A783FA0D-CE57-4EFC-A297-DF3D23C1E137}" type="slidenum">
              <a:rPr lang="en-IN" smtClean="0"/>
              <a:t>11</a:t>
            </a:fld>
            <a:endParaRPr lang="en-IN"/>
          </a:p>
        </p:txBody>
      </p:sp>
    </p:spTree>
    <p:extLst>
      <p:ext uri="{BB962C8B-B14F-4D97-AF65-F5344CB8AC3E}">
        <p14:creationId xmlns:p14="http://schemas.microsoft.com/office/powerpoint/2010/main" val="25839184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JUDGE BRIEFING (Slide 12):
To conclude, our project demonstrates that high-throughput LLM serving does not require throwing more expensive GPUs at the problem. By combining O(1) exact match caching with dense vector semantic embeddings, we cut generation latency by up to 98%, reduce token expenditure, and prevent cloud compute waste while maintaining 100% precision with zero semantic drift.
Our team is now open for questions from the examination committee. Thank you.</a:t>
            </a:r>
            <a:endParaRPr lang="en-IN"/>
          </a:p>
        </p:txBody>
      </p:sp>
      <p:sp>
        <p:nvSpPr>
          <p:cNvPr id="4" name="Slide Number Placeholder 3"/>
          <p:cNvSpPr>
            <a:spLocks noGrp="1"/>
          </p:cNvSpPr>
          <p:nvPr>
            <p:ph type="sldNum" sz="quarter" idx="5"/>
          </p:nvPr>
        </p:nvSpPr>
        <p:spPr/>
        <p:txBody>
          <a:bodyPr/>
          <a:lstStyle/>
          <a:p>
            <a:fld id="{A783FA0D-CE57-4EFC-A297-DF3D23C1E137}" type="slidenum">
              <a:rPr lang="en-IN" smtClean="0"/>
              <a:t>12</a:t>
            </a:fld>
            <a:endParaRPr lang="en-IN"/>
          </a:p>
        </p:txBody>
      </p:sp>
    </p:spTree>
    <p:extLst>
      <p:ext uri="{BB962C8B-B14F-4D97-AF65-F5344CB8AC3E}">
        <p14:creationId xmlns:p14="http://schemas.microsoft.com/office/powerpoint/2010/main" val="3788745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B7529-529C-F221-8AC5-F75F26C95A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FA2D2D5-899E-542D-5E8D-675A8F1A13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A227447-DFDC-9E8E-FDEB-FBE74CA93F1C}"/>
              </a:ext>
            </a:extLst>
          </p:cNvPr>
          <p:cNvSpPr>
            <a:spLocks noGrp="1"/>
          </p:cNvSpPr>
          <p:nvPr>
            <p:ph type="dt" sz="half" idx="10"/>
          </p:nvPr>
        </p:nvSpPr>
        <p:spPr/>
        <p:txBody>
          <a:bodyPr/>
          <a:lstStyle/>
          <a:p>
            <a:fld id="{AA7E1E6C-9A97-4FFE-8FDA-69E69656B8A4}" type="datetimeFigureOut">
              <a:rPr lang="en-IN" smtClean="0"/>
              <a:t>30-10-2026</a:t>
            </a:fld>
            <a:endParaRPr lang="en-IN"/>
          </a:p>
        </p:txBody>
      </p:sp>
      <p:sp>
        <p:nvSpPr>
          <p:cNvPr id="5" name="Footer Placeholder 4">
            <a:extLst>
              <a:ext uri="{FF2B5EF4-FFF2-40B4-BE49-F238E27FC236}">
                <a16:creationId xmlns:a16="http://schemas.microsoft.com/office/drawing/2014/main" id="{70961BC1-8E0E-43FE-7CCC-DB1BE6B9A6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0FD7C3-203F-FF31-F36C-CEA559B7C9A1}"/>
              </a:ext>
            </a:extLst>
          </p:cNvPr>
          <p:cNvSpPr>
            <a:spLocks noGrp="1"/>
          </p:cNvSpPr>
          <p:nvPr>
            <p:ph type="sldNum" sz="quarter" idx="12"/>
          </p:nvPr>
        </p:nvSpPr>
        <p:spPr/>
        <p:txBody>
          <a:bodyPr/>
          <a:lstStyle/>
          <a:p>
            <a:fld id="{2DFBC734-D131-40D6-8190-1547B30C0F6C}" type="slidenum">
              <a:rPr lang="en-IN" smtClean="0"/>
              <a:t>‹#›</a:t>
            </a:fld>
            <a:endParaRPr lang="en-IN"/>
          </a:p>
        </p:txBody>
      </p:sp>
    </p:spTree>
    <p:extLst>
      <p:ext uri="{BB962C8B-B14F-4D97-AF65-F5344CB8AC3E}">
        <p14:creationId xmlns:p14="http://schemas.microsoft.com/office/powerpoint/2010/main" val="1982321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C6CCD-E236-B08A-323E-CF47D7DDE1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035961-CFB6-417F-CFAB-247AAA82E3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B09ACA-20F6-80C3-61FB-25F7E230F1A2}"/>
              </a:ext>
            </a:extLst>
          </p:cNvPr>
          <p:cNvSpPr>
            <a:spLocks noGrp="1"/>
          </p:cNvSpPr>
          <p:nvPr>
            <p:ph type="dt" sz="half" idx="10"/>
          </p:nvPr>
        </p:nvSpPr>
        <p:spPr/>
        <p:txBody>
          <a:bodyPr/>
          <a:lstStyle/>
          <a:p>
            <a:fld id="{AA7E1E6C-9A97-4FFE-8FDA-69E69656B8A4}" type="datetimeFigureOut">
              <a:rPr lang="en-IN" smtClean="0"/>
              <a:t>30-10-2026</a:t>
            </a:fld>
            <a:endParaRPr lang="en-IN"/>
          </a:p>
        </p:txBody>
      </p:sp>
      <p:sp>
        <p:nvSpPr>
          <p:cNvPr id="5" name="Footer Placeholder 4">
            <a:extLst>
              <a:ext uri="{FF2B5EF4-FFF2-40B4-BE49-F238E27FC236}">
                <a16:creationId xmlns:a16="http://schemas.microsoft.com/office/drawing/2014/main" id="{567E8F9E-A135-C9DE-1D96-372D698158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7BDA59-12AE-FB2E-320B-D8B1ADA123BA}"/>
              </a:ext>
            </a:extLst>
          </p:cNvPr>
          <p:cNvSpPr>
            <a:spLocks noGrp="1"/>
          </p:cNvSpPr>
          <p:nvPr>
            <p:ph type="sldNum" sz="quarter" idx="12"/>
          </p:nvPr>
        </p:nvSpPr>
        <p:spPr/>
        <p:txBody>
          <a:bodyPr/>
          <a:lstStyle/>
          <a:p>
            <a:fld id="{2DFBC734-D131-40D6-8190-1547B30C0F6C}" type="slidenum">
              <a:rPr lang="en-IN" smtClean="0"/>
              <a:t>‹#›</a:t>
            </a:fld>
            <a:endParaRPr lang="en-IN"/>
          </a:p>
        </p:txBody>
      </p:sp>
    </p:spTree>
    <p:extLst>
      <p:ext uri="{BB962C8B-B14F-4D97-AF65-F5344CB8AC3E}">
        <p14:creationId xmlns:p14="http://schemas.microsoft.com/office/powerpoint/2010/main" val="3007259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68031-A9EF-CBDB-81AB-00C72E88AE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7524D87-5232-CA56-1EF8-2579C42CA3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3868AD-C975-3ECB-CCDB-9F50B2242D9F}"/>
              </a:ext>
            </a:extLst>
          </p:cNvPr>
          <p:cNvSpPr>
            <a:spLocks noGrp="1"/>
          </p:cNvSpPr>
          <p:nvPr>
            <p:ph type="dt" sz="half" idx="10"/>
          </p:nvPr>
        </p:nvSpPr>
        <p:spPr/>
        <p:txBody>
          <a:bodyPr/>
          <a:lstStyle/>
          <a:p>
            <a:fld id="{AA7E1E6C-9A97-4FFE-8FDA-69E69656B8A4}" type="datetimeFigureOut">
              <a:rPr lang="en-IN" smtClean="0"/>
              <a:t>30-10-2026</a:t>
            </a:fld>
            <a:endParaRPr lang="en-IN"/>
          </a:p>
        </p:txBody>
      </p:sp>
      <p:sp>
        <p:nvSpPr>
          <p:cNvPr id="5" name="Footer Placeholder 4">
            <a:extLst>
              <a:ext uri="{FF2B5EF4-FFF2-40B4-BE49-F238E27FC236}">
                <a16:creationId xmlns:a16="http://schemas.microsoft.com/office/drawing/2014/main" id="{A5CE3F3D-85BA-0B88-3CE7-79D4BFB9C1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6B4C52-E737-A470-679B-3B5803ECE0A5}"/>
              </a:ext>
            </a:extLst>
          </p:cNvPr>
          <p:cNvSpPr>
            <a:spLocks noGrp="1"/>
          </p:cNvSpPr>
          <p:nvPr>
            <p:ph type="sldNum" sz="quarter" idx="12"/>
          </p:nvPr>
        </p:nvSpPr>
        <p:spPr/>
        <p:txBody>
          <a:bodyPr/>
          <a:lstStyle/>
          <a:p>
            <a:fld id="{2DFBC734-D131-40D6-8190-1547B30C0F6C}" type="slidenum">
              <a:rPr lang="en-IN" smtClean="0"/>
              <a:t>‹#›</a:t>
            </a:fld>
            <a:endParaRPr lang="en-IN"/>
          </a:p>
        </p:txBody>
      </p:sp>
    </p:spTree>
    <p:extLst>
      <p:ext uri="{BB962C8B-B14F-4D97-AF65-F5344CB8AC3E}">
        <p14:creationId xmlns:p14="http://schemas.microsoft.com/office/powerpoint/2010/main" val="2263098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BC2E5-EAAA-E04D-3D7C-98A208EC59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B4AC2B-087A-223B-DE22-8F0EF226DA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BF5ACA8-941D-D4CE-B040-57F0464298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676A7A1-42D7-59A0-3CBB-F376F4208199}"/>
              </a:ext>
            </a:extLst>
          </p:cNvPr>
          <p:cNvSpPr>
            <a:spLocks noGrp="1"/>
          </p:cNvSpPr>
          <p:nvPr>
            <p:ph type="dt" sz="half" idx="10"/>
          </p:nvPr>
        </p:nvSpPr>
        <p:spPr/>
        <p:txBody>
          <a:bodyPr/>
          <a:lstStyle/>
          <a:p>
            <a:fld id="{AA7E1E6C-9A97-4FFE-8FDA-69E69656B8A4}" type="datetimeFigureOut">
              <a:rPr lang="en-IN" smtClean="0"/>
              <a:t>30-10-2026</a:t>
            </a:fld>
            <a:endParaRPr lang="en-IN"/>
          </a:p>
        </p:txBody>
      </p:sp>
      <p:sp>
        <p:nvSpPr>
          <p:cNvPr id="6" name="Footer Placeholder 5">
            <a:extLst>
              <a:ext uri="{FF2B5EF4-FFF2-40B4-BE49-F238E27FC236}">
                <a16:creationId xmlns:a16="http://schemas.microsoft.com/office/drawing/2014/main" id="{F174E2C6-0BB0-36B2-017A-419905D725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E2F714-E26E-5BC5-0450-6DD70F50996E}"/>
              </a:ext>
            </a:extLst>
          </p:cNvPr>
          <p:cNvSpPr>
            <a:spLocks noGrp="1"/>
          </p:cNvSpPr>
          <p:nvPr>
            <p:ph type="sldNum" sz="quarter" idx="12"/>
          </p:nvPr>
        </p:nvSpPr>
        <p:spPr/>
        <p:txBody>
          <a:bodyPr/>
          <a:lstStyle/>
          <a:p>
            <a:fld id="{2DFBC734-D131-40D6-8190-1547B30C0F6C}" type="slidenum">
              <a:rPr lang="en-IN" smtClean="0"/>
              <a:t>‹#›</a:t>
            </a:fld>
            <a:endParaRPr lang="en-IN"/>
          </a:p>
        </p:txBody>
      </p:sp>
    </p:spTree>
    <p:extLst>
      <p:ext uri="{BB962C8B-B14F-4D97-AF65-F5344CB8AC3E}">
        <p14:creationId xmlns:p14="http://schemas.microsoft.com/office/powerpoint/2010/main" val="974470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774E6-6807-B50E-5DE2-F2A26A29BBE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63EF626-D76A-66F7-047B-116CDB6584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7D797F-566B-20D8-E97E-0CBD8DDC91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ADD6E02-35B2-FE34-688B-78D570ABE7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B84EA2-8DF1-7FF7-A8B8-757633EAE1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46DF21C-7F11-DD52-91D8-DC7EDB5CCED0}"/>
              </a:ext>
            </a:extLst>
          </p:cNvPr>
          <p:cNvSpPr>
            <a:spLocks noGrp="1"/>
          </p:cNvSpPr>
          <p:nvPr>
            <p:ph type="dt" sz="half" idx="10"/>
          </p:nvPr>
        </p:nvSpPr>
        <p:spPr/>
        <p:txBody>
          <a:bodyPr/>
          <a:lstStyle/>
          <a:p>
            <a:fld id="{AA7E1E6C-9A97-4FFE-8FDA-69E69656B8A4}" type="datetimeFigureOut">
              <a:rPr lang="en-IN" smtClean="0"/>
              <a:t>30-10-2026</a:t>
            </a:fld>
            <a:endParaRPr lang="en-IN"/>
          </a:p>
        </p:txBody>
      </p:sp>
      <p:sp>
        <p:nvSpPr>
          <p:cNvPr id="8" name="Footer Placeholder 7">
            <a:extLst>
              <a:ext uri="{FF2B5EF4-FFF2-40B4-BE49-F238E27FC236}">
                <a16:creationId xmlns:a16="http://schemas.microsoft.com/office/drawing/2014/main" id="{A58DB43F-633D-F600-031B-EFA7B376EBC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8D241EC-26EA-5C16-B6E6-DBD479A1837B}"/>
              </a:ext>
            </a:extLst>
          </p:cNvPr>
          <p:cNvSpPr>
            <a:spLocks noGrp="1"/>
          </p:cNvSpPr>
          <p:nvPr>
            <p:ph type="sldNum" sz="quarter" idx="12"/>
          </p:nvPr>
        </p:nvSpPr>
        <p:spPr/>
        <p:txBody>
          <a:bodyPr/>
          <a:lstStyle/>
          <a:p>
            <a:fld id="{2DFBC734-D131-40D6-8190-1547B30C0F6C}" type="slidenum">
              <a:rPr lang="en-IN" smtClean="0"/>
              <a:t>‹#›</a:t>
            </a:fld>
            <a:endParaRPr lang="en-IN"/>
          </a:p>
        </p:txBody>
      </p:sp>
    </p:spTree>
    <p:extLst>
      <p:ext uri="{BB962C8B-B14F-4D97-AF65-F5344CB8AC3E}">
        <p14:creationId xmlns:p14="http://schemas.microsoft.com/office/powerpoint/2010/main" val="3215051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E1CC0-892B-A47C-1B5C-8B09A2EBBE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9BBBE37-543A-0845-FF8F-78F4783A0133}"/>
              </a:ext>
            </a:extLst>
          </p:cNvPr>
          <p:cNvSpPr>
            <a:spLocks noGrp="1"/>
          </p:cNvSpPr>
          <p:nvPr>
            <p:ph type="dt" sz="half" idx="10"/>
          </p:nvPr>
        </p:nvSpPr>
        <p:spPr/>
        <p:txBody>
          <a:bodyPr/>
          <a:lstStyle/>
          <a:p>
            <a:fld id="{AA7E1E6C-9A97-4FFE-8FDA-69E69656B8A4}" type="datetimeFigureOut">
              <a:rPr lang="en-IN" smtClean="0"/>
              <a:t>30-10-2026</a:t>
            </a:fld>
            <a:endParaRPr lang="en-IN"/>
          </a:p>
        </p:txBody>
      </p:sp>
      <p:sp>
        <p:nvSpPr>
          <p:cNvPr id="4" name="Footer Placeholder 3">
            <a:extLst>
              <a:ext uri="{FF2B5EF4-FFF2-40B4-BE49-F238E27FC236}">
                <a16:creationId xmlns:a16="http://schemas.microsoft.com/office/drawing/2014/main" id="{B15BDD78-88E7-85EA-5327-FEBCAD5D813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B14FFE7-2F90-3E71-D26D-789E9A227916}"/>
              </a:ext>
            </a:extLst>
          </p:cNvPr>
          <p:cNvSpPr>
            <a:spLocks noGrp="1"/>
          </p:cNvSpPr>
          <p:nvPr>
            <p:ph type="sldNum" sz="quarter" idx="12"/>
          </p:nvPr>
        </p:nvSpPr>
        <p:spPr/>
        <p:txBody>
          <a:bodyPr/>
          <a:lstStyle/>
          <a:p>
            <a:fld id="{2DFBC734-D131-40D6-8190-1547B30C0F6C}" type="slidenum">
              <a:rPr lang="en-IN" smtClean="0"/>
              <a:t>‹#›</a:t>
            </a:fld>
            <a:endParaRPr lang="en-IN"/>
          </a:p>
        </p:txBody>
      </p:sp>
    </p:spTree>
    <p:extLst>
      <p:ext uri="{BB962C8B-B14F-4D97-AF65-F5344CB8AC3E}">
        <p14:creationId xmlns:p14="http://schemas.microsoft.com/office/powerpoint/2010/main" val="2041209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41A1B1-E510-99E5-FD79-359E84851A40}"/>
              </a:ext>
            </a:extLst>
          </p:cNvPr>
          <p:cNvSpPr>
            <a:spLocks noGrp="1"/>
          </p:cNvSpPr>
          <p:nvPr>
            <p:ph type="dt" sz="half" idx="10"/>
          </p:nvPr>
        </p:nvSpPr>
        <p:spPr/>
        <p:txBody>
          <a:bodyPr/>
          <a:lstStyle/>
          <a:p>
            <a:fld id="{AA7E1E6C-9A97-4FFE-8FDA-69E69656B8A4}" type="datetimeFigureOut">
              <a:rPr lang="en-IN" smtClean="0"/>
              <a:t>30-10-2026</a:t>
            </a:fld>
            <a:endParaRPr lang="en-IN"/>
          </a:p>
        </p:txBody>
      </p:sp>
      <p:sp>
        <p:nvSpPr>
          <p:cNvPr id="3" name="Footer Placeholder 2">
            <a:extLst>
              <a:ext uri="{FF2B5EF4-FFF2-40B4-BE49-F238E27FC236}">
                <a16:creationId xmlns:a16="http://schemas.microsoft.com/office/drawing/2014/main" id="{69E3F416-BB4D-7776-393C-62F294585FC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900F8A6-7D86-57FC-5B0A-3D5D2D1BC6B5}"/>
              </a:ext>
            </a:extLst>
          </p:cNvPr>
          <p:cNvSpPr>
            <a:spLocks noGrp="1"/>
          </p:cNvSpPr>
          <p:nvPr>
            <p:ph type="sldNum" sz="quarter" idx="12"/>
          </p:nvPr>
        </p:nvSpPr>
        <p:spPr/>
        <p:txBody>
          <a:bodyPr/>
          <a:lstStyle/>
          <a:p>
            <a:fld id="{2DFBC734-D131-40D6-8190-1547B30C0F6C}" type="slidenum">
              <a:rPr lang="en-IN" smtClean="0"/>
              <a:t>‹#›</a:t>
            </a:fld>
            <a:endParaRPr lang="en-IN"/>
          </a:p>
        </p:txBody>
      </p:sp>
    </p:spTree>
    <p:extLst>
      <p:ext uri="{BB962C8B-B14F-4D97-AF65-F5344CB8AC3E}">
        <p14:creationId xmlns:p14="http://schemas.microsoft.com/office/powerpoint/2010/main" val="2722359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E727C-7DB8-DFE0-9806-84C36DBAE1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9CD1599-0F80-7031-BFBD-334E36FC5E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AE67A2C-5F35-6F05-9CE1-7A31E3135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7DCAA2-3BD2-486D-85CB-CE7FEC9A9559}"/>
              </a:ext>
            </a:extLst>
          </p:cNvPr>
          <p:cNvSpPr>
            <a:spLocks noGrp="1"/>
          </p:cNvSpPr>
          <p:nvPr>
            <p:ph type="dt" sz="half" idx="10"/>
          </p:nvPr>
        </p:nvSpPr>
        <p:spPr/>
        <p:txBody>
          <a:bodyPr/>
          <a:lstStyle/>
          <a:p>
            <a:fld id="{AA7E1E6C-9A97-4FFE-8FDA-69E69656B8A4}" type="datetimeFigureOut">
              <a:rPr lang="en-IN" smtClean="0"/>
              <a:t>30-10-2026</a:t>
            </a:fld>
            <a:endParaRPr lang="en-IN"/>
          </a:p>
        </p:txBody>
      </p:sp>
      <p:sp>
        <p:nvSpPr>
          <p:cNvPr id="6" name="Footer Placeholder 5">
            <a:extLst>
              <a:ext uri="{FF2B5EF4-FFF2-40B4-BE49-F238E27FC236}">
                <a16:creationId xmlns:a16="http://schemas.microsoft.com/office/drawing/2014/main" id="{E77137B0-B0ED-B4BE-C181-B24D7789EF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11729F-1E97-5DCF-78E0-EB6B4EE824F8}"/>
              </a:ext>
            </a:extLst>
          </p:cNvPr>
          <p:cNvSpPr>
            <a:spLocks noGrp="1"/>
          </p:cNvSpPr>
          <p:nvPr>
            <p:ph type="sldNum" sz="quarter" idx="12"/>
          </p:nvPr>
        </p:nvSpPr>
        <p:spPr/>
        <p:txBody>
          <a:bodyPr/>
          <a:lstStyle/>
          <a:p>
            <a:fld id="{2DFBC734-D131-40D6-8190-1547B30C0F6C}" type="slidenum">
              <a:rPr lang="en-IN" smtClean="0"/>
              <a:t>‹#›</a:t>
            </a:fld>
            <a:endParaRPr lang="en-IN"/>
          </a:p>
        </p:txBody>
      </p:sp>
    </p:spTree>
    <p:extLst>
      <p:ext uri="{BB962C8B-B14F-4D97-AF65-F5344CB8AC3E}">
        <p14:creationId xmlns:p14="http://schemas.microsoft.com/office/powerpoint/2010/main" val="3428409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6C62E-1B72-5E3D-9928-3A32D4A205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85AAE6E-C3FD-2291-687A-E8DE3F1640AC}"/>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F9449CE-D4C7-1645-7AE3-62FF5EF8BB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03EE2B-E8F8-8E2A-2588-902BDFA2505E}"/>
              </a:ext>
            </a:extLst>
          </p:cNvPr>
          <p:cNvSpPr>
            <a:spLocks noGrp="1"/>
          </p:cNvSpPr>
          <p:nvPr>
            <p:ph type="dt" sz="half" idx="10"/>
          </p:nvPr>
        </p:nvSpPr>
        <p:spPr/>
        <p:txBody>
          <a:bodyPr/>
          <a:lstStyle/>
          <a:p>
            <a:fld id="{AA7E1E6C-9A97-4FFE-8FDA-69E69656B8A4}" type="datetimeFigureOut">
              <a:rPr lang="en-IN" smtClean="0"/>
              <a:t>30-10-2026</a:t>
            </a:fld>
            <a:endParaRPr lang="en-IN"/>
          </a:p>
        </p:txBody>
      </p:sp>
      <p:sp>
        <p:nvSpPr>
          <p:cNvPr id="6" name="Footer Placeholder 5">
            <a:extLst>
              <a:ext uri="{FF2B5EF4-FFF2-40B4-BE49-F238E27FC236}">
                <a16:creationId xmlns:a16="http://schemas.microsoft.com/office/drawing/2014/main" id="{4566D0A8-EC12-B573-3B54-4C00E57DC5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6DE7C5-A2BC-5036-590D-498692D7FCAD}"/>
              </a:ext>
            </a:extLst>
          </p:cNvPr>
          <p:cNvSpPr>
            <a:spLocks noGrp="1"/>
          </p:cNvSpPr>
          <p:nvPr>
            <p:ph type="sldNum" sz="quarter" idx="12"/>
          </p:nvPr>
        </p:nvSpPr>
        <p:spPr/>
        <p:txBody>
          <a:bodyPr/>
          <a:lstStyle/>
          <a:p>
            <a:fld id="{2DFBC734-D131-40D6-8190-1547B30C0F6C}" type="slidenum">
              <a:rPr lang="en-IN" smtClean="0"/>
              <a:t>‹#›</a:t>
            </a:fld>
            <a:endParaRPr lang="en-IN"/>
          </a:p>
        </p:txBody>
      </p:sp>
    </p:spTree>
    <p:extLst>
      <p:ext uri="{BB962C8B-B14F-4D97-AF65-F5344CB8AC3E}">
        <p14:creationId xmlns:p14="http://schemas.microsoft.com/office/powerpoint/2010/main" val="1762548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017D6-6E6B-FB46-CB53-A2C7CF627C6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4D28CA-72F6-C12B-1E8C-87DFB25263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7BF027-8052-2983-97C1-EF7F4944D63A}"/>
              </a:ext>
            </a:extLst>
          </p:cNvPr>
          <p:cNvSpPr>
            <a:spLocks noGrp="1"/>
          </p:cNvSpPr>
          <p:nvPr>
            <p:ph type="dt" sz="half" idx="10"/>
          </p:nvPr>
        </p:nvSpPr>
        <p:spPr/>
        <p:txBody>
          <a:bodyPr/>
          <a:lstStyle/>
          <a:p>
            <a:fld id="{AA7E1E6C-9A97-4FFE-8FDA-69E69656B8A4}" type="datetimeFigureOut">
              <a:rPr lang="en-IN" smtClean="0"/>
              <a:t>30-10-2026</a:t>
            </a:fld>
            <a:endParaRPr lang="en-IN"/>
          </a:p>
        </p:txBody>
      </p:sp>
      <p:sp>
        <p:nvSpPr>
          <p:cNvPr id="5" name="Footer Placeholder 4">
            <a:extLst>
              <a:ext uri="{FF2B5EF4-FFF2-40B4-BE49-F238E27FC236}">
                <a16:creationId xmlns:a16="http://schemas.microsoft.com/office/drawing/2014/main" id="{AE488A36-264B-E11B-205D-C0C29BBC7F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06E46F-009F-6EBC-0A98-91B9BB264B9C}"/>
              </a:ext>
            </a:extLst>
          </p:cNvPr>
          <p:cNvSpPr>
            <a:spLocks noGrp="1"/>
          </p:cNvSpPr>
          <p:nvPr>
            <p:ph type="sldNum" sz="quarter" idx="12"/>
          </p:nvPr>
        </p:nvSpPr>
        <p:spPr/>
        <p:txBody>
          <a:bodyPr/>
          <a:lstStyle/>
          <a:p>
            <a:fld id="{2DFBC734-D131-40D6-8190-1547B30C0F6C}" type="slidenum">
              <a:rPr lang="en-IN" smtClean="0"/>
              <a:t>‹#›</a:t>
            </a:fld>
            <a:endParaRPr lang="en-IN"/>
          </a:p>
        </p:txBody>
      </p:sp>
    </p:spTree>
    <p:extLst>
      <p:ext uri="{BB962C8B-B14F-4D97-AF65-F5344CB8AC3E}">
        <p14:creationId xmlns:p14="http://schemas.microsoft.com/office/powerpoint/2010/main" val="3354861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A64C2F-1248-4544-B68F-8E6CD4899C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06C0966-18A8-0A95-A0F1-B9A8A3D2E6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70AC0A-2BDC-45AD-44E2-43BE835E61DD}"/>
              </a:ext>
            </a:extLst>
          </p:cNvPr>
          <p:cNvSpPr>
            <a:spLocks noGrp="1"/>
          </p:cNvSpPr>
          <p:nvPr>
            <p:ph type="dt" sz="half" idx="10"/>
          </p:nvPr>
        </p:nvSpPr>
        <p:spPr/>
        <p:txBody>
          <a:bodyPr/>
          <a:lstStyle/>
          <a:p>
            <a:fld id="{AA7E1E6C-9A97-4FFE-8FDA-69E69656B8A4}" type="datetimeFigureOut">
              <a:rPr lang="en-IN" smtClean="0"/>
              <a:t>30-10-2026</a:t>
            </a:fld>
            <a:endParaRPr lang="en-IN"/>
          </a:p>
        </p:txBody>
      </p:sp>
      <p:sp>
        <p:nvSpPr>
          <p:cNvPr id="5" name="Footer Placeholder 4">
            <a:extLst>
              <a:ext uri="{FF2B5EF4-FFF2-40B4-BE49-F238E27FC236}">
                <a16:creationId xmlns:a16="http://schemas.microsoft.com/office/drawing/2014/main" id="{41B962FF-90A7-E871-38AC-03782576B8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E7193A-1E20-7D43-4A22-FBD253C5EC48}"/>
              </a:ext>
            </a:extLst>
          </p:cNvPr>
          <p:cNvSpPr>
            <a:spLocks noGrp="1"/>
          </p:cNvSpPr>
          <p:nvPr>
            <p:ph type="sldNum" sz="quarter" idx="12"/>
          </p:nvPr>
        </p:nvSpPr>
        <p:spPr/>
        <p:txBody>
          <a:bodyPr/>
          <a:lstStyle/>
          <a:p>
            <a:fld id="{2DFBC734-D131-40D6-8190-1547B30C0F6C}" type="slidenum">
              <a:rPr lang="en-IN" smtClean="0"/>
              <a:t>‹#›</a:t>
            </a:fld>
            <a:endParaRPr lang="en-IN"/>
          </a:p>
        </p:txBody>
      </p:sp>
    </p:spTree>
    <p:extLst>
      <p:ext uri="{BB962C8B-B14F-4D97-AF65-F5344CB8AC3E}">
        <p14:creationId xmlns:p14="http://schemas.microsoft.com/office/powerpoint/2010/main" val="3582607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C2C112-EA53-8929-FD8A-25D9344EBC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BE0F0B-B37A-7AD5-CC56-D640C2A911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CC3DA9-0926-CF27-BE3D-4A065E01DA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A7E1E6C-9A97-4FFE-8FDA-69E69656B8A4}" type="datetimeFigureOut">
              <a:rPr lang="en-IN" smtClean="0"/>
              <a:t>30-10-2026</a:t>
            </a:fld>
            <a:endParaRPr lang="en-IN"/>
          </a:p>
        </p:txBody>
      </p:sp>
      <p:sp>
        <p:nvSpPr>
          <p:cNvPr id="5" name="Footer Placeholder 4">
            <a:extLst>
              <a:ext uri="{FF2B5EF4-FFF2-40B4-BE49-F238E27FC236}">
                <a16:creationId xmlns:a16="http://schemas.microsoft.com/office/drawing/2014/main" id="{579C129D-E3AD-7E20-C1C9-4468740675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B2E6D35-FC2A-E864-BF9E-6688EF326E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FBC734-D131-40D6-8190-1547B30C0F6C}" type="slidenum">
              <a:rPr lang="en-IN" smtClean="0"/>
              <a:t>‹#›</a:t>
            </a:fld>
            <a:endParaRPr lang="en-IN"/>
          </a:p>
        </p:txBody>
      </p:sp>
    </p:spTree>
    <p:extLst>
      <p:ext uri="{BB962C8B-B14F-4D97-AF65-F5344CB8AC3E}">
        <p14:creationId xmlns:p14="http://schemas.microsoft.com/office/powerpoint/2010/main" val="12404452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DEFE9B-94CB-0AD9-37D5-9B0F307C4A46}"/>
              </a:ext>
            </a:extLst>
          </p:cNvPr>
          <p:cNvSpPr/>
          <p:nvPr/>
        </p:nvSpPr>
        <p:spPr>
          <a:xfrm>
            <a:off x="0" y="0"/>
            <a:ext cx="12192000" cy="6858000"/>
          </a:xfrm>
          <a:prstGeom prst="rect">
            <a:avLst/>
          </a:prstGeom>
          <a:solidFill>
            <a:srgbClr val="FCF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96A5CC03-709C-2AE4-6AD2-878445345DA0}"/>
              </a:ext>
            </a:extLst>
          </p:cNvPr>
          <p:cNvSpPr/>
          <p:nvPr/>
        </p:nvSpPr>
        <p:spPr>
          <a:xfrm>
            <a:off x="0" y="0"/>
            <a:ext cx="6096000" cy="50800"/>
          </a:xfrm>
          <a:prstGeom prst="rect">
            <a:avLst/>
          </a:prstGeom>
          <a:solidFill>
            <a:srgbClr val="7C8A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428FC9A2-4513-1D6D-E78B-7ED358036294}"/>
              </a:ext>
            </a:extLst>
          </p:cNvPr>
          <p:cNvSpPr/>
          <p:nvPr/>
        </p:nvSpPr>
        <p:spPr>
          <a:xfrm>
            <a:off x="6096000" y="0"/>
            <a:ext cx="6096000" cy="50800"/>
          </a:xfrm>
          <a:prstGeom prst="rect">
            <a:avLst/>
          </a:prstGeom>
          <a:solidFill>
            <a:srgbClr val="B36A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82267F4-ACDB-0442-3E3A-FF16F5BDA508}"/>
              </a:ext>
            </a:extLst>
          </p:cNvPr>
          <p:cNvSpPr txBox="1"/>
          <p:nvPr/>
        </p:nvSpPr>
        <p:spPr>
          <a:xfrm>
            <a:off x="508000" y="6527800"/>
            <a:ext cx="11176000" cy="138499"/>
          </a:xfrm>
          <a:prstGeom prst="rect">
            <a:avLst/>
          </a:prstGeom>
          <a:noFill/>
        </p:spPr>
        <p:txBody>
          <a:bodyPr vert="horz" wrap="square" lIns="0" tIns="0" rIns="0" bIns="0" rtlCol="0">
            <a:spAutoFit/>
          </a:bodyPr>
          <a:lstStyle/>
          <a:p>
            <a:r>
              <a:rPr lang="en-US" sz="900">
                <a:solidFill>
                  <a:srgbClr val="787770"/>
                </a:solidFill>
                <a:latin typeface="Segoe UI" panose="020B0502040204020203" pitchFamily="34" charset="0"/>
              </a:rPr>
              <a:t>Two-Tier LLM Caching and Inference Architecture  |  College Capstone Exam Defense  |  Slide 1 of 12</a:t>
            </a:r>
            <a:endParaRPr lang="en-IN" sz="900">
              <a:solidFill>
                <a:srgbClr val="787770"/>
              </a:solidFill>
              <a:latin typeface="Segoe UI" panose="020B0502040204020203" pitchFamily="34" charset="0"/>
            </a:endParaRPr>
          </a:p>
        </p:txBody>
      </p:sp>
      <p:sp>
        <p:nvSpPr>
          <p:cNvPr id="7" name="TextBox 6">
            <a:extLst>
              <a:ext uri="{FF2B5EF4-FFF2-40B4-BE49-F238E27FC236}">
                <a16:creationId xmlns:a16="http://schemas.microsoft.com/office/drawing/2014/main" id="{F2ECFD16-F03C-394D-CE47-3CB4D26F4278}"/>
              </a:ext>
            </a:extLst>
          </p:cNvPr>
          <p:cNvSpPr txBox="1"/>
          <p:nvPr/>
        </p:nvSpPr>
        <p:spPr>
          <a:xfrm>
            <a:off x="635000" y="1219200"/>
            <a:ext cx="10922000" cy="1077218"/>
          </a:xfrm>
          <a:prstGeom prst="rect">
            <a:avLst/>
          </a:prstGeom>
          <a:noFill/>
        </p:spPr>
        <p:txBody>
          <a:bodyPr vert="horz" wrap="square" rtlCol="0">
            <a:spAutoFit/>
          </a:bodyPr>
          <a:lstStyle/>
          <a:p>
            <a:r>
              <a:rPr lang="en-US" sz="3200" b="1">
                <a:solidFill>
                  <a:srgbClr val="1A1A1A"/>
                </a:solidFill>
                <a:latin typeface="Segoe UI" panose="020B0502040204020203" pitchFamily="34" charset="0"/>
              </a:rPr>
              <a:t>Two-Tier LLM Inference and
Semantic Caching Architecture</a:t>
            </a:r>
            <a:endParaRPr lang="en-IN" sz="3200" b="1">
              <a:solidFill>
                <a:srgbClr val="1A1A1A"/>
              </a:solidFill>
              <a:latin typeface="Segoe UI" panose="020B0502040204020203" pitchFamily="34" charset="0"/>
            </a:endParaRPr>
          </a:p>
        </p:txBody>
      </p:sp>
      <p:sp>
        <p:nvSpPr>
          <p:cNvPr id="8" name="TextBox 7">
            <a:extLst>
              <a:ext uri="{FF2B5EF4-FFF2-40B4-BE49-F238E27FC236}">
                <a16:creationId xmlns:a16="http://schemas.microsoft.com/office/drawing/2014/main" id="{77CCB21B-FD6A-A482-2B20-14E8F8297EE2}"/>
              </a:ext>
            </a:extLst>
          </p:cNvPr>
          <p:cNvSpPr txBox="1"/>
          <p:nvPr/>
        </p:nvSpPr>
        <p:spPr>
          <a:xfrm>
            <a:off x="635000" y="2349500"/>
            <a:ext cx="10922000" cy="292388"/>
          </a:xfrm>
          <a:prstGeom prst="rect">
            <a:avLst/>
          </a:prstGeom>
          <a:noFill/>
        </p:spPr>
        <p:txBody>
          <a:bodyPr vert="horz" wrap="square" rtlCol="0">
            <a:spAutoFit/>
          </a:bodyPr>
          <a:lstStyle/>
          <a:p>
            <a:r>
              <a:rPr lang="en-IN" sz="1300">
                <a:solidFill>
                  <a:srgbClr val="5F5E5B"/>
                </a:solidFill>
                <a:latin typeface="Segoe UI" panose="020B0502040204020203" pitchFamily="34" charset="0"/>
              </a:rPr>
              <a:t>Sub-Millisecond Serving via O(1) Exact Hashing, Local MiniLM Dense Vector Embeddings, and Groq Cloud LPU Fallback</a:t>
            </a:r>
          </a:p>
        </p:txBody>
      </p:sp>
      <p:sp>
        <p:nvSpPr>
          <p:cNvPr id="9" name="Rectangle: Rounded Corners 8">
            <a:extLst>
              <a:ext uri="{FF2B5EF4-FFF2-40B4-BE49-F238E27FC236}">
                <a16:creationId xmlns:a16="http://schemas.microsoft.com/office/drawing/2014/main" id="{4D47DC07-81DA-D99D-C734-32342E820E1C}"/>
              </a:ext>
            </a:extLst>
          </p:cNvPr>
          <p:cNvSpPr/>
          <p:nvPr/>
        </p:nvSpPr>
        <p:spPr>
          <a:xfrm>
            <a:off x="635000" y="3048000"/>
            <a:ext cx="5334000" cy="3175000"/>
          </a:xfrm>
          <a:prstGeom prst="roundRect">
            <a:avLst>
              <a:gd name="adj" fmla="val 5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49D2971B-317F-85F2-8342-93EFBCA4B5D7}"/>
              </a:ext>
            </a:extLst>
          </p:cNvPr>
          <p:cNvSpPr txBox="1"/>
          <p:nvPr/>
        </p:nvSpPr>
        <p:spPr>
          <a:xfrm>
            <a:off x="889000" y="3238500"/>
            <a:ext cx="4826000" cy="1615827"/>
          </a:xfrm>
          <a:prstGeom prst="rect">
            <a:avLst/>
          </a:prstGeom>
          <a:noFill/>
        </p:spPr>
        <p:txBody>
          <a:bodyPr vert="horz" wrap="square" rtlCol="0">
            <a:spAutoFit/>
          </a:bodyPr>
          <a:lstStyle/>
          <a:p>
            <a:r>
              <a:rPr lang="en-IN" sz="1100" b="1">
                <a:solidFill>
                  <a:srgbClr val="3E4A35"/>
                </a:solidFill>
                <a:latin typeface="Segoe UI" panose="020B0502040204020203" pitchFamily="34" charset="0"/>
              </a:rPr>
              <a:t>PROJECT INFORMATION AND SCOPE
- Domain: High-Throughput LLM Inference and Memory Systems
- Primary Engine: FastAPI Gateway + PyTorch + HF Transformers
- Tier 1 Cache: O(1) Hash Map on Normalized Prompts
- Tier 2 Cache: Dense Vector Cosine Similarity (all-MiniLM-L6-v2)
- Remote Inference: Groq Cloud LPU (Qwen 2.5 27B)
- Observability: Real-Time SPA UI + Structured JSONL Telemetry
- Evaluation: 22 Curated Prompt Traps + Concurrency Benchmarks</a:t>
            </a:r>
          </a:p>
        </p:txBody>
      </p:sp>
      <p:sp>
        <p:nvSpPr>
          <p:cNvPr id="11" name="Rectangle: Rounded Corners 10">
            <a:extLst>
              <a:ext uri="{FF2B5EF4-FFF2-40B4-BE49-F238E27FC236}">
                <a16:creationId xmlns:a16="http://schemas.microsoft.com/office/drawing/2014/main" id="{F527E236-76F8-F644-1C23-A7A49164FA89}"/>
              </a:ext>
            </a:extLst>
          </p:cNvPr>
          <p:cNvSpPr/>
          <p:nvPr/>
        </p:nvSpPr>
        <p:spPr>
          <a:xfrm>
            <a:off x="6223000" y="3048000"/>
            <a:ext cx="5334000" cy="3175000"/>
          </a:xfrm>
          <a:prstGeom prst="roundRect">
            <a:avLst>
              <a:gd name="adj" fmla="val 5000"/>
            </a:avLst>
          </a:prstGeom>
          <a:solidFill>
            <a:srgbClr val="F5F2ED"/>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3399B0BA-49AC-7A51-4C95-F251906B339B}"/>
              </a:ext>
            </a:extLst>
          </p:cNvPr>
          <p:cNvSpPr/>
          <p:nvPr/>
        </p:nvSpPr>
        <p:spPr>
          <a:xfrm>
            <a:off x="6477000" y="3302000"/>
            <a:ext cx="2286000" cy="1206500"/>
          </a:xfrm>
          <a:prstGeom prst="roundRect">
            <a:avLst>
              <a:gd name="adj" fmla="val 8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04BA96D6-7296-43AE-FDF4-8F240CFEB733}"/>
              </a:ext>
            </a:extLst>
          </p:cNvPr>
          <p:cNvSpPr txBox="1"/>
          <p:nvPr/>
        </p:nvSpPr>
        <p:spPr>
          <a:xfrm>
            <a:off x="6540500" y="3302000"/>
            <a:ext cx="2159000" cy="1200329"/>
          </a:xfrm>
          <a:prstGeom prst="rect">
            <a:avLst/>
          </a:prstGeom>
          <a:noFill/>
        </p:spPr>
        <p:txBody>
          <a:bodyPr vert="horz" wrap="square" rtlCol="0">
            <a:spAutoFit/>
          </a:bodyPr>
          <a:lstStyle/>
          <a:p>
            <a:r>
              <a:rPr lang="en-US" b="1" dirty="0">
                <a:solidFill>
                  <a:srgbClr val="7C8A71"/>
                </a:solidFill>
                <a:latin typeface="Segoe UI" panose="020B0502040204020203" pitchFamily="34" charset="0"/>
              </a:rPr>
              <a:t>98.2%
Latency Cut
on Semantic Hits (&lt;8ms)</a:t>
            </a:r>
            <a:endParaRPr lang="en-IN" b="1" dirty="0">
              <a:solidFill>
                <a:srgbClr val="7C8A71"/>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3D0A6BFF-24BB-C752-1249-1F67D54461E1}"/>
              </a:ext>
            </a:extLst>
          </p:cNvPr>
          <p:cNvSpPr/>
          <p:nvPr/>
        </p:nvSpPr>
        <p:spPr>
          <a:xfrm>
            <a:off x="9017000" y="3302000"/>
            <a:ext cx="2286000" cy="1206500"/>
          </a:xfrm>
          <a:prstGeom prst="roundRect">
            <a:avLst>
              <a:gd name="adj" fmla="val 8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36945360-DE20-CED8-B936-8C1FF13E8A9D}"/>
              </a:ext>
            </a:extLst>
          </p:cNvPr>
          <p:cNvSpPr txBox="1"/>
          <p:nvPr/>
        </p:nvSpPr>
        <p:spPr>
          <a:xfrm>
            <a:off x="9080500" y="3365500"/>
            <a:ext cx="2159000" cy="923330"/>
          </a:xfrm>
          <a:prstGeom prst="rect">
            <a:avLst/>
          </a:prstGeom>
          <a:noFill/>
        </p:spPr>
        <p:txBody>
          <a:bodyPr vert="horz" wrap="square" rtlCol="0">
            <a:spAutoFit/>
          </a:bodyPr>
          <a:lstStyle/>
          <a:p>
            <a:r>
              <a:rPr lang="en-US" b="1" dirty="0">
                <a:solidFill>
                  <a:srgbClr val="B36A5E"/>
                </a:solidFill>
                <a:latin typeface="Segoe UI" panose="020B0502040204020203" pitchFamily="34" charset="0"/>
              </a:rPr>
              <a:t>0.0 </a:t>
            </a:r>
            <a:r>
              <a:rPr lang="en-US" b="1" dirty="0" err="1">
                <a:solidFill>
                  <a:srgbClr val="B36A5E"/>
                </a:solidFill>
                <a:latin typeface="Segoe UI" panose="020B0502040204020203" pitchFamily="34" charset="0"/>
              </a:rPr>
              <a:t>ms</a:t>
            </a:r>
            <a:r>
              <a:rPr lang="en-US" b="1" dirty="0">
                <a:solidFill>
                  <a:srgbClr val="B36A5E"/>
                </a:solidFill>
                <a:latin typeface="Segoe UI" panose="020B0502040204020203" pitchFamily="34" charset="0"/>
              </a:rPr>
              <a:t>
Model Compute
on Cache Hits</a:t>
            </a:r>
            <a:endParaRPr lang="en-IN" b="1" dirty="0">
              <a:solidFill>
                <a:srgbClr val="B36A5E"/>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CF82F723-637B-E576-C4E5-4E1B1052394E}"/>
              </a:ext>
            </a:extLst>
          </p:cNvPr>
          <p:cNvSpPr/>
          <p:nvPr/>
        </p:nvSpPr>
        <p:spPr>
          <a:xfrm>
            <a:off x="6477000" y="4762500"/>
            <a:ext cx="2286000" cy="1206500"/>
          </a:xfrm>
          <a:prstGeom prst="roundRect">
            <a:avLst>
              <a:gd name="adj" fmla="val 8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4D72642E-DA13-9D7E-75CF-6580EE735D9C}"/>
              </a:ext>
            </a:extLst>
          </p:cNvPr>
          <p:cNvSpPr txBox="1"/>
          <p:nvPr/>
        </p:nvSpPr>
        <p:spPr>
          <a:xfrm>
            <a:off x="6540500" y="4826000"/>
            <a:ext cx="2159000" cy="1077218"/>
          </a:xfrm>
          <a:prstGeom prst="rect">
            <a:avLst/>
          </a:prstGeom>
          <a:noFill/>
        </p:spPr>
        <p:txBody>
          <a:bodyPr vert="horz" wrap="square" rtlCol="0">
            <a:spAutoFit/>
          </a:bodyPr>
          <a:lstStyle/>
          <a:p>
            <a:r>
              <a:rPr lang="en-IN" sz="1600" b="1" dirty="0">
                <a:solidFill>
                  <a:srgbClr val="1A1A1A"/>
                </a:solidFill>
                <a:latin typeface="Segoe UI" panose="020B0502040204020203" pitchFamily="34" charset="0"/>
              </a:rPr>
              <a:t>100%
Precision @ tau=0.90
Zero False Positives</a:t>
            </a:r>
          </a:p>
        </p:txBody>
      </p:sp>
      <p:sp>
        <p:nvSpPr>
          <p:cNvPr id="18" name="Rectangle: Rounded Corners 17">
            <a:extLst>
              <a:ext uri="{FF2B5EF4-FFF2-40B4-BE49-F238E27FC236}">
                <a16:creationId xmlns:a16="http://schemas.microsoft.com/office/drawing/2014/main" id="{F93E7467-BFBF-8938-5062-D5DAD20D7E97}"/>
              </a:ext>
            </a:extLst>
          </p:cNvPr>
          <p:cNvSpPr/>
          <p:nvPr/>
        </p:nvSpPr>
        <p:spPr>
          <a:xfrm>
            <a:off x="9017000" y="4762500"/>
            <a:ext cx="2286000" cy="1206500"/>
          </a:xfrm>
          <a:prstGeom prst="roundRect">
            <a:avLst>
              <a:gd name="adj" fmla="val 8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7C348162-087B-7B90-65DF-01994B4D650B}"/>
              </a:ext>
            </a:extLst>
          </p:cNvPr>
          <p:cNvSpPr txBox="1"/>
          <p:nvPr/>
        </p:nvSpPr>
        <p:spPr>
          <a:xfrm>
            <a:off x="9080500" y="4826000"/>
            <a:ext cx="2159000" cy="1077218"/>
          </a:xfrm>
          <a:prstGeom prst="rect">
            <a:avLst/>
          </a:prstGeom>
          <a:noFill/>
        </p:spPr>
        <p:txBody>
          <a:bodyPr vert="horz" wrap="square" rtlCol="0">
            <a:spAutoFit/>
          </a:bodyPr>
          <a:lstStyle/>
          <a:p>
            <a:r>
              <a:rPr lang="en-US" sz="1600" b="1" dirty="0">
                <a:solidFill>
                  <a:srgbClr val="7C8A71"/>
                </a:solidFill>
                <a:latin typeface="Segoe UI" panose="020B0502040204020203" pitchFamily="34" charset="0"/>
              </a:rPr>
              <a:t>~0.12g
CO2e Avoided
per 1,000 Avoided Toks</a:t>
            </a:r>
            <a:endParaRPr lang="en-IN" sz="1600" b="1" dirty="0">
              <a:solidFill>
                <a:srgbClr val="7C8A71"/>
              </a:solidFill>
              <a:latin typeface="Segoe UI" panose="020B0502040204020203" pitchFamily="34" charset="0"/>
            </a:endParaRPr>
          </a:p>
        </p:txBody>
      </p:sp>
    </p:spTree>
    <p:extLst>
      <p:ext uri="{BB962C8B-B14F-4D97-AF65-F5344CB8AC3E}">
        <p14:creationId xmlns:p14="http://schemas.microsoft.com/office/powerpoint/2010/main" val="3824518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D9BAC7-7229-814D-0645-264B90D485EC}"/>
              </a:ext>
            </a:extLst>
          </p:cNvPr>
          <p:cNvSpPr/>
          <p:nvPr/>
        </p:nvSpPr>
        <p:spPr>
          <a:xfrm>
            <a:off x="0" y="0"/>
            <a:ext cx="12192000" cy="6858000"/>
          </a:xfrm>
          <a:prstGeom prst="rect">
            <a:avLst/>
          </a:prstGeom>
          <a:solidFill>
            <a:srgbClr val="FCF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3D05458C-8591-E717-CFDD-75C6ACE361D9}"/>
              </a:ext>
            </a:extLst>
          </p:cNvPr>
          <p:cNvSpPr/>
          <p:nvPr/>
        </p:nvSpPr>
        <p:spPr>
          <a:xfrm>
            <a:off x="0" y="0"/>
            <a:ext cx="6096000" cy="50800"/>
          </a:xfrm>
          <a:prstGeom prst="rect">
            <a:avLst/>
          </a:prstGeom>
          <a:solidFill>
            <a:srgbClr val="7C8A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A801C143-451B-DC6A-B907-D273CF50A368}"/>
              </a:ext>
            </a:extLst>
          </p:cNvPr>
          <p:cNvSpPr/>
          <p:nvPr/>
        </p:nvSpPr>
        <p:spPr>
          <a:xfrm>
            <a:off x="6096000" y="0"/>
            <a:ext cx="6096000" cy="50800"/>
          </a:xfrm>
          <a:prstGeom prst="rect">
            <a:avLst/>
          </a:prstGeom>
          <a:solidFill>
            <a:srgbClr val="B36A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53B975A7-7DC4-45F4-A4C2-E0A6583A0128}"/>
              </a:ext>
            </a:extLst>
          </p:cNvPr>
          <p:cNvSpPr txBox="1"/>
          <p:nvPr/>
        </p:nvSpPr>
        <p:spPr>
          <a:xfrm>
            <a:off x="508000" y="6527800"/>
            <a:ext cx="11176000" cy="138499"/>
          </a:xfrm>
          <a:prstGeom prst="rect">
            <a:avLst/>
          </a:prstGeom>
          <a:noFill/>
        </p:spPr>
        <p:txBody>
          <a:bodyPr vert="horz" wrap="square" lIns="0" tIns="0" rIns="0" bIns="0" rtlCol="0">
            <a:spAutoFit/>
          </a:bodyPr>
          <a:lstStyle/>
          <a:p>
            <a:r>
              <a:rPr lang="en-US" sz="900">
                <a:solidFill>
                  <a:srgbClr val="787770"/>
                </a:solidFill>
                <a:latin typeface="Segoe UI" panose="020B0502040204020203" pitchFamily="34" charset="0"/>
              </a:rPr>
              <a:t>Two-Tier LLM Caching and Inference Architecture  |  College Capstone Exam Defense  |  Slide 2 of 12</a:t>
            </a:r>
            <a:endParaRPr lang="en-IN" sz="900">
              <a:solidFill>
                <a:srgbClr val="787770"/>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77299075-D8AA-3851-907E-F1E2322F5432}"/>
              </a:ext>
            </a:extLst>
          </p:cNvPr>
          <p:cNvSpPr/>
          <p:nvPr/>
        </p:nvSpPr>
        <p:spPr>
          <a:xfrm>
            <a:off x="508000" y="279400"/>
            <a:ext cx="3352800" cy="279400"/>
          </a:xfrm>
          <a:prstGeom prst="roundRect">
            <a:avLst>
              <a:gd name="adj" fmla="val 50000"/>
            </a:avLst>
          </a:prstGeom>
          <a:solidFill>
            <a:srgbClr val="FFEF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IN" sz="850" b="1">
                <a:solidFill>
                  <a:srgbClr val="71352B"/>
                </a:solidFill>
                <a:latin typeface="Segoe UI" panose="020B0502040204020203" pitchFamily="34" charset="0"/>
              </a:rPr>
              <a:t>PROBLEM STATEMENT AND MOTIVATION</a:t>
            </a:r>
          </a:p>
        </p:txBody>
      </p:sp>
      <p:sp>
        <p:nvSpPr>
          <p:cNvPr id="7" name="TextBox 6">
            <a:extLst>
              <a:ext uri="{FF2B5EF4-FFF2-40B4-BE49-F238E27FC236}">
                <a16:creationId xmlns:a16="http://schemas.microsoft.com/office/drawing/2014/main" id="{5420D5C6-28D8-59AB-CBCC-83CA2208C98F}"/>
              </a:ext>
            </a:extLst>
          </p:cNvPr>
          <p:cNvSpPr txBox="1"/>
          <p:nvPr/>
        </p:nvSpPr>
        <p:spPr>
          <a:xfrm>
            <a:off x="508000" y="609600"/>
            <a:ext cx="11176000" cy="338554"/>
          </a:xfrm>
          <a:prstGeom prst="rect">
            <a:avLst/>
          </a:prstGeom>
          <a:noFill/>
        </p:spPr>
        <p:txBody>
          <a:bodyPr vert="horz" wrap="square" lIns="0" tIns="0" rIns="0" bIns="0" rtlCol="0">
            <a:spAutoFit/>
          </a:bodyPr>
          <a:lstStyle/>
          <a:p>
            <a:r>
              <a:rPr lang="en-US" sz="2200" b="1">
                <a:solidFill>
                  <a:srgbClr val="1A1A1A"/>
                </a:solidFill>
                <a:latin typeface="Segoe UI" panose="020B0502040204020203" pitchFamily="34" charset="0"/>
              </a:rPr>
              <a:t>The Production LLM Serving Trilemma</a:t>
            </a:r>
            <a:endParaRPr lang="en-IN" sz="2200" b="1">
              <a:solidFill>
                <a:srgbClr val="1A1A1A"/>
              </a:solidFill>
              <a:latin typeface="Segoe UI" panose="020B0502040204020203" pitchFamily="34" charset="0"/>
            </a:endParaRPr>
          </a:p>
        </p:txBody>
      </p:sp>
      <p:sp>
        <p:nvSpPr>
          <p:cNvPr id="8" name="TextBox 7">
            <a:extLst>
              <a:ext uri="{FF2B5EF4-FFF2-40B4-BE49-F238E27FC236}">
                <a16:creationId xmlns:a16="http://schemas.microsoft.com/office/drawing/2014/main" id="{A175D6E8-97CD-7DA6-8E33-68E89E0963FE}"/>
              </a:ext>
            </a:extLst>
          </p:cNvPr>
          <p:cNvSpPr txBox="1"/>
          <p:nvPr/>
        </p:nvSpPr>
        <p:spPr>
          <a:xfrm>
            <a:off x="508000" y="1066800"/>
            <a:ext cx="11176000" cy="169277"/>
          </a:xfrm>
          <a:prstGeom prst="rect">
            <a:avLst/>
          </a:prstGeom>
          <a:noFill/>
        </p:spPr>
        <p:txBody>
          <a:bodyPr vert="horz" wrap="square" lIns="0" tIns="0" rIns="0" bIns="0" rtlCol="0">
            <a:spAutoFit/>
          </a:bodyPr>
          <a:lstStyle/>
          <a:p>
            <a:r>
              <a:rPr lang="en-US" sz="1100">
                <a:solidFill>
                  <a:srgbClr val="5F5E5B"/>
                </a:solidFill>
                <a:latin typeface="Segoe UI" panose="020B0502040204020203" pitchFamily="34" charset="0"/>
              </a:rPr>
              <a:t>Why Direct Cloud LLM Invocations Fail Under Real-World Workloads</a:t>
            </a:r>
            <a:endParaRPr lang="en-IN" sz="1100">
              <a:solidFill>
                <a:srgbClr val="5F5E5B"/>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351C9ED2-AEA1-7B0B-3356-F000A08A2139}"/>
              </a:ext>
            </a:extLst>
          </p:cNvPr>
          <p:cNvSpPr/>
          <p:nvPr/>
        </p:nvSpPr>
        <p:spPr>
          <a:xfrm>
            <a:off x="635000" y="1524000"/>
            <a:ext cx="3492500" cy="3429000"/>
          </a:xfrm>
          <a:prstGeom prst="roundRect">
            <a:avLst>
              <a:gd name="adj" fmla="val 4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5ECE0074-B377-BD11-B3F9-CB50066E098F}"/>
              </a:ext>
            </a:extLst>
          </p:cNvPr>
          <p:cNvSpPr txBox="1"/>
          <p:nvPr/>
        </p:nvSpPr>
        <p:spPr>
          <a:xfrm>
            <a:off x="825500" y="1714500"/>
            <a:ext cx="3111500" cy="2677656"/>
          </a:xfrm>
          <a:prstGeom prst="rect">
            <a:avLst/>
          </a:prstGeom>
          <a:noFill/>
        </p:spPr>
        <p:txBody>
          <a:bodyPr vert="horz" wrap="square" rtlCol="0">
            <a:spAutoFit/>
          </a:bodyPr>
          <a:lstStyle/>
          <a:p>
            <a:r>
              <a:rPr lang="en-US" sz="1400" b="1">
                <a:solidFill>
                  <a:srgbClr val="71352B"/>
                </a:solidFill>
                <a:latin typeface="Segoe UI" panose="020B0502040204020203" pitchFamily="34" charset="0"/>
              </a:rPr>
              <a:t>1. High Generation Latency
- Remote LLM round-trips routinely range from 400ms to 2,500ms+ per request.
- Token-by-token autoregressive decoding is inherently sequential.
- Severe degradation for interactive applications (chatbots, real-time assistants, search).</a:t>
            </a:r>
            <a:endParaRPr lang="en-IN" sz="1400" b="1">
              <a:solidFill>
                <a:srgbClr val="71352B"/>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9CACD94E-D34B-DECF-C19B-E4D589E002EF}"/>
              </a:ext>
            </a:extLst>
          </p:cNvPr>
          <p:cNvSpPr/>
          <p:nvPr/>
        </p:nvSpPr>
        <p:spPr>
          <a:xfrm>
            <a:off x="4343400" y="1524000"/>
            <a:ext cx="3492500" cy="3429000"/>
          </a:xfrm>
          <a:prstGeom prst="roundRect">
            <a:avLst>
              <a:gd name="adj" fmla="val 4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6CF7A66A-14C4-65D3-706E-BDC421B5C6FC}"/>
              </a:ext>
            </a:extLst>
          </p:cNvPr>
          <p:cNvSpPr txBox="1"/>
          <p:nvPr/>
        </p:nvSpPr>
        <p:spPr>
          <a:xfrm>
            <a:off x="4533900" y="1714500"/>
            <a:ext cx="3111500" cy="3323987"/>
          </a:xfrm>
          <a:prstGeom prst="rect">
            <a:avLst/>
          </a:prstGeom>
          <a:noFill/>
        </p:spPr>
        <p:txBody>
          <a:bodyPr vert="horz" wrap="square" rtlCol="0">
            <a:spAutoFit/>
          </a:bodyPr>
          <a:lstStyle/>
          <a:p>
            <a:r>
              <a:rPr lang="en-US" sz="1400" b="1">
                <a:solidFill>
                  <a:srgbClr val="71352B"/>
                </a:solidFill>
                <a:latin typeface="Segoe UI" panose="020B0502040204020203" pitchFamily="34" charset="0"/>
              </a:rPr>
              <a:t>2. Soaring Operational Cost
- Cloud LLM APIs charge per prompt and generation token (rate: USD 0.80 to 5.00+ per 1M tokens).
- In enterprise FAQ and customer support, 30% to 60% of incoming queries are recurring or paraphrased.
- Paying repeatedly for identical completions is financially unsustainable.</a:t>
            </a:r>
            <a:endParaRPr lang="en-IN" sz="1400" b="1">
              <a:solidFill>
                <a:srgbClr val="71352B"/>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BFD33208-4DF4-7A4D-E172-EFBB8C9F94DE}"/>
              </a:ext>
            </a:extLst>
          </p:cNvPr>
          <p:cNvSpPr/>
          <p:nvPr/>
        </p:nvSpPr>
        <p:spPr>
          <a:xfrm>
            <a:off x="8051800" y="1524000"/>
            <a:ext cx="3492500" cy="3429000"/>
          </a:xfrm>
          <a:prstGeom prst="roundRect">
            <a:avLst>
              <a:gd name="adj" fmla="val 4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05DE953C-A312-1176-3E97-EAE1AB070583}"/>
              </a:ext>
            </a:extLst>
          </p:cNvPr>
          <p:cNvSpPr txBox="1"/>
          <p:nvPr/>
        </p:nvSpPr>
        <p:spPr>
          <a:xfrm>
            <a:off x="8242300" y="1714500"/>
            <a:ext cx="3111500" cy="2893100"/>
          </a:xfrm>
          <a:prstGeom prst="rect">
            <a:avLst/>
          </a:prstGeom>
          <a:noFill/>
        </p:spPr>
        <p:txBody>
          <a:bodyPr vert="horz" wrap="square" rtlCol="0">
            <a:spAutoFit/>
          </a:bodyPr>
          <a:lstStyle/>
          <a:p>
            <a:r>
              <a:rPr lang="en-IN" sz="1400" b="1">
                <a:solidFill>
                  <a:srgbClr val="71352B"/>
                </a:solidFill>
                <a:latin typeface="Segoe UI" panose="020B0502040204020203" pitchFamily="34" charset="0"/>
              </a:rPr>
              <a:t>3. Traditional Cache Blindspot
- Standard web caches (Redis, Memcached, HTTP gateways) rely on exact key strings.
- 'Capital of France?' and 'Which city is France capital?' produce 100% cache misses.
- Natural language requires semantic understanding at the caching layer.</a:t>
            </a:r>
          </a:p>
        </p:txBody>
      </p:sp>
      <p:sp>
        <p:nvSpPr>
          <p:cNvPr id="15" name="Rectangle: Rounded Corners 14">
            <a:extLst>
              <a:ext uri="{FF2B5EF4-FFF2-40B4-BE49-F238E27FC236}">
                <a16:creationId xmlns:a16="http://schemas.microsoft.com/office/drawing/2014/main" id="{56778D4D-41FD-6119-1884-7012EEC65FB6}"/>
              </a:ext>
            </a:extLst>
          </p:cNvPr>
          <p:cNvSpPr/>
          <p:nvPr/>
        </p:nvSpPr>
        <p:spPr>
          <a:xfrm>
            <a:off x="635000" y="5207000"/>
            <a:ext cx="10922000" cy="1016000"/>
          </a:xfrm>
          <a:prstGeom prst="roundRect">
            <a:avLst>
              <a:gd name="adj" fmla="val 4000"/>
            </a:avLst>
          </a:prstGeom>
          <a:solidFill>
            <a:srgbClr val="F5F2ED"/>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3488B1DB-DD80-09B1-C88B-1A22314839F9}"/>
              </a:ext>
            </a:extLst>
          </p:cNvPr>
          <p:cNvSpPr txBox="1"/>
          <p:nvPr/>
        </p:nvSpPr>
        <p:spPr>
          <a:xfrm>
            <a:off x="825500" y="5308600"/>
            <a:ext cx="10541000" cy="577081"/>
          </a:xfrm>
          <a:prstGeom prst="rect">
            <a:avLst/>
          </a:prstGeom>
          <a:noFill/>
        </p:spPr>
        <p:txBody>
          <a:bodyPr vert="horz" wrap="square" rtlCol="0">
            <a:spAutoFit/>
          </a:bodyPr>
          <a:lstStyle/>
          <a:p>
            <a:r>
              <a:rPr lang="en-US" sz="1050" b="1">
                <a:solidFill>
                  <a:srgbClr val="3E4A35"/>
                </a:solidFill>
                <a:latin typeface="Segoe UI" panose="020B0502040204020203" pitchFamily="34" charset="0"/>
              </a:rPr>
              <a:t>THE CORE RESEARCH AND ENGINEERING CHALLENGE:
How do we build an ultra-low latency caching layer that catches exact string repetitions in O(1) time AND intercepts semantically identical paraphrases via dense vector embeddings, without suffering from false-positive hallucinations or entity swaps?</a:t>
            </a:r>
            <a:endParaRPr lang="en-IN" sz="1050" b="1">
              <a:solidFill>
                <a:srgbClr val="3E4A35"/>
              </a:solidFill>
              <a:latin typeface="Segoe UI" panose="020B0502040204020203" pitchFamily="34" charset="0"/>
            </a:endParaRPr>
          </a:p>
        </p:txBody>
      </p:sp>
    </p:spTree>
    <p:extLst>
      <p:ext uri="{BB962C8B-B14F-4D97-AF65-F5344CB8AC3E}">
        <p14:creationId xmlns:p14="http://schemas.microsoft.com/office/powerpoint/2010/main" val="2210666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B12A93-9821-A4D9-06C9-13E7E756216E}"/>
              </a:ext>
            </a:extLst>
          </p:cNvPr>
          <p:cNvSpPr/>
          <p:nvPr/>
        </p:nvSpPr>
        <p:spPr>
          <a:xfrm>
            <a:off x="9144" y="0"/>
            <a:ext cx="12192000" cy="6858000"/>
          </a:xfrm>
          <a:prstGeom prst="rect">
            <a:avLst/>
          </a:prstGeom>
          <a:solidFill>
            <a:srgbClr val="FCF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5C5B9888-A276-9B4E-50FE-27660D8BC3C3}"/>
              </a:ext>
            </a:extLst>
          </p:cNvPr>
          <p:cNvSpPr/>
          <p:nvPr/>
        </p:nvSpPr>
        <p:spPr>
          <a:xfrm>
            <a:off x="0" y="0"/>
            <a:ext cx="6096000" cy="50800"/>
          </a:xfrm>
          <a:prstGeom prst="rect">
            <a:avLst/>
          </a:prstGeom>
          <a:solidFill>
            <a:srgbClr val="7C8A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29286ABA-9785-1FBF-E9E3-CB099FED2A0A}"/>
              </a:ext>
            </a:extLst>
          </p:cNvPr>
          <p:cNvSpPr/>
          <p:nvPr/>
        </p:nvSpPr>
        <p:spPr>
          <a:xfrm>
            <a:off x="6096000" y="0"/>
            <a:ext cx="6096000" cy="50800"/>
          </a:xfrm>
          <a:prstGeom prst="rect">
            <a:avLst/>
          </a:prstGeom>
          <a:solidFill>
            <a:srgbClr val="B36A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4BB501E-F880-3B69-4D27-B74DB8BD9F44}"/>
              </a:ext>
            </a:extLst>
          </p:cNvPr>
          <p:cNvSpPr txBox="1"/>
          <p:nvPr/>
        </p:nvSpPr>
        <p:spPr>
          <a:xfrm>
            <a:off x="508000" y="6527800"/>
            <a:ext cx="11176000" cy="138499"/>
          </a:xfrm>
          <a:prstGeom prst="rect">
            <a:avLst/>
          </a:prstGeom>
          <a:noFill/>
        </p:spPr>
        <p:txBody>
          <a:bodyPr vert="horz" wrap="square" lIns="0" tIns="0" rIns="0" bIns="0" rtlCol="0">
            <a:spAutoFit/>
          </a:bodyPr>
          <a:lstStyle/>
          <a:p>
            <a:r>
              <a:rPr lang="en-US" sz="900">
                <a:solidFill>
                  <a:srgbClr val="787770"/>
                </a:solidFill>
                <a:latin typeface="Segoe UI" panose="020B0502040204020203" pitchFamily="34" charset="0"/>
              </a:rPr>
              <a:t>Two-Tier LLM Caching and Inference Architecture  |  College Capstone Exam Defense  |  Slide 3 of 12</a:t>
            </a:r>
            <a:endParaRPr lang="en-IN" sz="900">
              <a:solidFill>
                <a:srgbClr val="787770"/>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79D6B1F1-B4FA-73AE-5E3B-B265711EF70A}"/>
              </a:ext>
            </a:extLst>
          </p:cNvPr>
          <p:cNvSpPr/>
          <p:nvPr/>
        </p:nvSpPr>
        <p:spPr>
          <a:xfrm>
            <a:off x="508000" y="279400"/>
            <a:ext cx="4216400" cy="279400"/>
          </a:xfrm>
          <a:prstGeom prst="roundRect">
            <a:avLst>
              <a:gd name="adj" fmla="val 50000"/>
            </a:avLst>
          </a:prstGeom>
          <a:solidFill>
            <a:srgbClr val="D8E7C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US" sz="850" b="1">
                <a:solidFill>
                  <a:srgbClr val="3E4A35"/>
                </a:solidFill>
                <a:latin typeface="Segoe UI" panose="020B0502040204020203" pitchFamily="34" charset="0"/>
              </a:rPr>
              <a:t>SYSTEM ARCHITECTURE AND SOLUTION OVERVIEW</a:t>
            </a:r>
            <a:endParaRPr lang="en-IN" sz="850" b="1">
              <a:solidFill>
                <a:srgbClr val="3E4A35"/>
              </a:solidFill>
              <a:latin typeface="Segoe UI" panose="020B0502040204020203" pitchFamily="34" charset="0"/>
            </a:endParaRPr>
          </a:p>
        </p:txBody>
      </p:sp>
      <p:sp>
        <p:nvSpPr>
          <p:cNvPr id="7" name="TextBox 6">
            <a:extLst>
              <a:ext uri="{FF2B5EF4-FFF2-40B4-BE49-F238E27FC236}">
                <a16:creationId xmlns:a16="http://schemas.microsoft.com/office/drawing/2014/main" id="{9A224900-E7ED-4E26-8BEE-1E40B4EA1B02}"/>
              </a:ext>
            </a:extLst>
          </p:cNvPr>
          <p:cNvSpPr txBox="1"/>
          <p:nvPr/>
        </p:nvSpPr>
        <p:spPr>
          <a:xfrm>
            <a:off x="508000" y="609600"/>
            <a:ext cx="11176000" cy="338554"/>
          </a:xfrm>
          <a:prstGeom prst="rect">
            <a:avLst/>
          </a:prstGeom>
          <a:noFill/>
        </p:spPr>
        <p:txBody>
          <a:bodyPr vert="horz" wrap="square" lIns="0" tIns="0" rIns="0" bIns="0" rtlCol="0">
            <a:spAutoFit/>
          </a:bodyPr>
          <a:lstStyle/>
          <a:p>
            <a:r>
              <a:rPr lang="en-IN" sz="2200" b="1">
                <a:solidFill>
                  <a:srgbClr val="1A1A1A"/>
                </a:solidFill>
                <a:latin typeface="Segoe UI" panose="020B0502040204020203" pitchFamily="34" charset="0"/>
              </a:rPr>
              <a:t>The Two-Tier Caching Pipeline</a:t>
            </a:r>
          </a:p>
        </p:txBody>
      </p:sp>
      <p:sp>
        <p:nvSpPr>
          <p:cNvPr id="8" name="TextBox 7">
            <a:extLst>
              <a:ext uri="{FF2B5EF4-FFF2-40B4-BE49-F238E27FC236}">
                <a16:creationId xmlns:a16="http://schemas.microsoft.com/office/drawing/2014/main" id="{A9EF15A3-3F24-CE14-5908-1DDA80BA3210}"/>
              </a:ext>
            </a:extLst>
          </p:cNvPr>
          <p:cNvSpPr txBox="1"/>
          <p:nvPr/>
        </p:nvSpPr>
        <p:spPr>
          <a:xfrm>
            <a:off x="508000" y="1066800"/>
            <a:ext cx="11176000" cy="169277"/>
          </a:xfrm>
          <a:prstGeom prst="rect">
            <a:avLst/>
          </a:prstGeom>
          <a:noFill/>
        </p:spPr>
        <p:txBody>
          <a:bodyPr vert="horz" wrap="square" lIns="0" tIns="0" rIns="0" bIns="0" rtlCol="0">
            <a:spAutoFit/>
          </a:bodyPr>
          <a:lstStyle/>
          <a:p>
            <a:r>
              <a:rPr lang="en-US" sz="1100">
                <a:solidFill>
                  <a:srgbClr val="5F5E5B"/>
                </a:solidFill>
                <a:latin typeface="Segoe UI" panose="020B0502040204020203" pitchFamily="34" charset="0"/>
              </a:rPr>
              <a:t>Hierarchical Evaluation Cascade with Upstream Groq Cloud Fallback</a:t>
            </a:r>
            <a:endParaRPr lang="en-IN" sz="1100">
              <a:solidFill>
                <a:srgbClr val="5F5E5B"/>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09EC3639-A817-9DE6-97CA-A674A30FFEA0}"/>
              </a:ext>
            </a:extLst>
          </p:cNvPr>
          <p:cNvSpPr/>
          <p:nvPr/>
        </p:nvSpPr>
        <p:spPr>
          <a:xfrm>
            <a:off x="635000" y="1524000"/>
            <a:ext cx="3492500" cy="4699000"/>
          </a:xfrm>
          <a:prstGeom prst="roundRect">
            <a:avLst>
              <a:gd name="adj" fmla="val 4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38B8CD0D-0090-A44B-F88E-69F4F2DA9C39}"/>
              </a:ext>
            </a:extLst>
          </p:cNvPr>
          <p:cNvSpPr/>
          <p:nvPr/>
        </p:nvSpPr>
        <p:spPr>
          <a:xfrm>
            <a:off x="825500" y="1714500"/>
            <a:ext cx="1524000" cy="279400"/>
          </a:xfrm>
          <a:prstGeom prst="roundRect">
            <a:avLst>
              <a:gd name="adj" fmla="val 50000"/>
            </a:avLst>
          </a:prstGeom>
          <a:solidFill>
            <a:srgbClr val="D8E7C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50" b="1">
                <a:solidFill>
                  <a:srgbClr val="3E4A35"/>
                </a:solidFill>
                <a:latin typeface="Segoe UI" panose="020B0502040204020203" pitchFamily="34" charset="0"/>
              </a:rPr>
              <a:t>TIER 1 CACHE</a:t>
            </a:r>
          </a:p>
        </p:txBody>
      </p:sp>
      <p:sp>
        <p:nvSpPr>
          <p:cNvPr id="11" name="TextBox 10">
            <a:extLst>
              <a:ext uri="{FF2B5EF4-FFF2-40B4-BE49-F238E27FC236}">
                <a16:creationId xmlns:a16="http://schemas.microsoft.com/office/drawing/2014/main" id="{CDDE3F03-8605-F05C-F2F5-7558D953B82C}"/>
              </a:ext>
            </a:extLst>
          </p:cNvPr>
          <p:cNvSpPr txBox="1"/>
          <p:nvPr/>
        </p:nvSpPr>
        <p:spPr>
          <a:xfrm>
            <a:off x="825500" y="2095500"/>
            <a:ext cx="3111500" cy="3539430"/>
          </a:xfrm>
          <a:prstGeom prst="rect">
            <a:avLst/>
          </a:prstGeom>
          <a:noFill/>
        </p:spPr>
        <p:txBody>
          <a:bodyPr vert="horz" wrap="square" rtlCol="0">
            <a:spAutoFit/>
          </a:bodyPr>
          <a:lstStyle/>
          <a:p>
            <a:r>
              <a:rPr lang="en-IN" sz="1400" b="1" dirty="0">
                <a:solidFill>
                  <a:srgbClr val="3E4A35"/>
                </a:solidFill>
                <a:latin typeface="Segoe UI" panose="020B0502040204020203" pitchFamily="34" charset="0"/>
              </a:rPr>
              <a:t>Exact Match Engine
- Strategy: O(1) In-Memory Hash Map.
- 3-Stage Cascading Lookup:</a:t>
            </a:r>
          </a:p>
          <a:p>
            <a:r>
              <a:rPr lang="en-IN" sz="1400" b="1" dirty="0">
                <a:solidFill>
                  <a:srgbClr val="3E4A35"/>
                </a:solidFill>
                <a:latin typeface="Segoe UI" panose="020B0502040204020203" pitchFamily="34" charset="0"/>
              </a:rPr>
              <a:t>      1. Strict (prompt, </a:t>
            </a:r>
            <a:r>
              <a:rPr lang="en-IN" sz="1400" b="1" dirty="0" err="1">
                <a:solidFill>
                  <a:srgbClr val="3E4A35"/>
                </a:solidFill>
                <a:latin typeface="Segoe UI" panose="020B0502040204020203" pitchFamily="34" charset="0"/>
              </a:rPr>
              <a:t>max_tokens</a:t>
            </a:r>
            <a:r>
              <a:rPr lang="en-IN" sz="1400" b="1" dirty="0">
                <a:solidFill>
                  <a:srgbClr val="3E4A35"/>
                </a:solidFill>
                <a:latin typeface="Segoe UI" panose="020B0502040204020203" pitchFamily="34" charset="0"/>
              </a:rPr>
              <a:t>)
      2. Clean prompt across token</a:t>
            </a:r>
          </a:p>
          <a:p>
            <a:r>
              <a:rPr lang="en-IN" sz="1400" b="1" dirty="0">
                <a:solidFill>
                  <a:srgbClr val="3E4A35"/>
                </a:solidFill>
                <a:latin typeface="Segoe UI" panose="020B0502040204020203" pitchFamily="34" charset="0"/>
              </a:rPr>
              <a:t>          budgets
      3. Normalized lowercase &amp;</a:t>
            </a:r>
          </a:p>
          <a:p>
            <a:r>
              <a:rPr lang="en-IN" sz="1400" b="1" dirty="0">
                <a:solidFill>
                  <a:srgbClr val="3E4A35"/>
                </a:solidFill>
                <a:latin typeface="Segoe UI" panose="020B0502040204020203" pitchFamily="34" charset="0"/>
              </a:rPr>
              <a:t>          trimmed
- Latency: &lt; 1.0 </a:t>
            </a:r>
            <a:r>
              <a:rPr lang="en-IN" sz="1400" b="1" dirty="0" err="1">
                <a:solidFill>
                  <a:srgbClr val="3E4A35"/>
                </a:solidFill>
                <a:latin typeface="Segoe UI" panose="020B0502040204020203" pitchFamily="34" charset="0"/>
              </a:rPr>
              <a:t>ms</a:t>
            </a:r>
            <a:r>
              <a:rPr lang="en-IN" sz="1400" b="1" dirty="0">
                <a:solidFill>
                  <a:srgbClr val="3E4A35"/>
                </a:solidFill>
                <a:latin typeface="Segoe UI" panose="020B0502040204020203" pitchFamily="34" charset="0"/>
              </a:rPr>
              <a:t> (0.0 </a:t>
            </a:r>
            <a:r>
              <a:rPr lang="en-IN" sz="1400" b="1" dirty="0" err="1">
                <a:solidFill>
                  <a:srgbClr val="3E4A35"/>
                </a:solidFill>
                <a:latin typeface="Segoe UI" panose="020B0502040204020203" pitchFamily="34" charset="0"/>
              </a:rPr>
              <a:t>ms</a:t>
            </a:r>
            <a:r>
              <a:rPr lang="en-IN" sz="1400" b="1" dirty="0">
                <a:solidFill>
                  <a:srgbClr val="3E4A35"/>
                </a:solidFill>
                <a:latin typeface="Segoe UI" panose="020B0502040204020203" pitchFamily="34" charset="0"/>
              </a:rPr>
              <a:t> Compute)
- Complexity: O(1) Constant Time
- Eviction: Lazy TTL auto-purge (3600s)</a:t>
            </a:r>
          </a:p>
        </p:txBody>
      </p:sp>
      <p:sp>
        <p:nvSpPr>
          <p:cNvPr id="12" name="Rectangle: Rounded Corners 11">
            <a:extLst>
              <a:ext uri="{FF2B5EF4-FFF2-40B4-BE49-F238E27FC236}">
                <a16:creationId xmlns:a16="http://schemas.microsoft.com/office/drawing/2014/main" id="{73AE7F84-E4CC-BC25-0F33-DC684C93877C}"/>
              </a:ext>
            </a:extLst>
          </p:cNvPr>
          <p:cNvSpPr/>
          <p:nvPr/>
        </p:nvSpPr>
        <p:spPr>
          <a:xfrm>
            <a:off x="4343400" y="1524000"/>
            <a:ext cx="3492500" cy="4699000"/>
          </a:xfrm>
          <a:prstGeom prst="roundRect">
            <a:avLst>
              <a:gd name="adj" fmla="val 4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AFEEEA44-B684-5D9C-CFB0-3AE4A91777DE}"/>
              </a:ext>
            </a:extLst>
          </p:cNvPr>
          <p:cNvSpPr/>
          <p:nvPr/>
        </p:nvSpPr>
        <p:spPr>
          <a:xfrm>
            <a:off x="4533900" y="1714500"/>
            <a:ext cx="1714500" cy="279400"/>
          </a:xfrm>
          <a:prstGeom prst="roundRect">
            <a:avLst>
              <a:gd name="adj" fmla="val 50000"/>
            </a:avLst>
          </a:prstGeom>
          <a:solidFill>
            <a:srgbClr val="FFEF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50" b="1">
                <a:solidFill>
                  <a:srgbClr val="71352B"/>
                </a:solidFill>
                <a:latin typeface="Segoe UI" panose="020B0502040204020203" pitchFamily="34" charset="0"/>
              </a:rPr>
              <a:t>TIER 2 CACHE</a:t>
            </a:r>
          </a:p>
        </p:txBody>
      </p:sp>
      <p:sp>
        <p:nvSpPr>
          <p:cNvPr id="14" name="TextBox 13">
            <a:extLst>
              <a:ext uri="{FF2B5EF4-FFF2-40B4-BE49-F238E27FC236}">
                <a16:creationId xmlns:a16="http://schemas.microsoft.com/office/drawing/2014/main" id="{73064B4F-A915-286F-F84E-19499034E253}"/>
              </a:ext>
            </a:extLst>
          </p:cNvPr>
          <p:cNvSpPr txBox="1"/>
          <p:nvPr/>
        </p:nvSpPr>
        <p:spPr>
          <a:xfrm>
            <a:off x="4533900" y="2095500"/>
            <a:ext cx="3111500" cy="3539430"/>
          </a:xfrm>
          <a:prstGeom prst="rect">
            <a:avLst/>
          </a:prstGeom>
          <a:noFill/>
        </p:spPr>
        <p:txBody>
          <a:bodyPr vert="horz" wrap="square" rtlCol="0">
            <a:spAutoFit/>
          </a:bodyPr>
          <a:lstStyle/>
          <a:p>
            <a:r>
              <a:rPr lang="en-IN" sz="1400" b="1" dirty="0">
                <a:solidFill>
                  <a:srgbClr val="71352B"/>
                </a:solidFill>
                <a:latin typeface="Segoe UI" panose="020B0502040204020203" pitchFamily="34" charset="0"/>
              </a:rPr>
              <a:t>Dense Semantic Engine
- Local Model: all-MiniLM-L6-v2 (384-d dense sentence vector on CPU).
- Vector Math: Attention-masked mean pooling + L2 normalization.
- Matching: Fast dot product cosine similarity against stored vectors.
- Threshold: Configurable tau (default 0.90).
- Latency: ~3 - 8 </a:t>
            </a:r>
            <a:r>
              <a:rPr lang="en-IN" sz="1400" b="1" dirty="0" err="1">
                <a:solidFill>
                  <a:srgbClr val="71352B"/>
                </a:solidFill>
                <a:latin typeface="Segoe UI" panose="020B0502040204020203" pitchFamily="34" charset="0"/>
              </a:rPr>
              <a:t>ms</a:t>
            </a:r>
            <a:r>
              <a:rPr lang="en-IN" sz="1400" b="1" dirty="0">
                <a:solidFill>
                  <a:srgbClr val="71352B"/>
                </a:solidFill>
                <a:latin typeface="Segoe UI" panose="020B0502040204020203" pitchFamily="34" charset="0"/>
              </a:rPr>
              <a:t> (0.0 </a:t>
            </a:r>
            <a:r>
              <a:rPr lang="en-IN" sz="1400" b="1" dirty="0" err="1">
                <a:solidFill>
                  <a:srgbClr val="71352B"/>
                </a:solidFill>
                <a:latin typeface="Segoe UI" panose="020B0502040204020203" pitchFamily="34" charset="0"/>
              </a:rPr>
              <a:t>ms</a:t>
            </a:r>
            <a:r>
              <a:rPr lang="en-IN" sz="1400" b="1" dirty="0">
                <a:solidFill>
                  <a:srgbClr val="71352B"/>
                </a:solidFill>
                <a:latin typeface="Segoe UI" panose="020B0502040204020203" pitchFamily="34" charset="0"/>
              </a:rPr>
              <a:t> Compute)
- Pre-warming: Seeded golden FAQ store</a:t>
            </a:r>
          </a:p>
        </p:txBody>
      </p:sp>
      <p:sp>
        <p:nvSpPr>
          <p:cNvPr id="15" name="Rectangle: Rounded Corners 14">
            <a:extLst>
              <a:ext uri="{FF2B5EF4-FFF2-40B4-BE49-F238E27FC236}">
                <a16:creationId xmlns:a16="http://schemas.microsoft.com/office/drawing/2014/main" id="{117B3BBC-3995-0AD4-85E7-B18CE4783EF3}"/>
              </a:ext>
            </a:extLst>
          </p:cNvPr>
          <p:cNvSpPr/>
          <p:nvPr/>
        </p:nvSpPr>
        <p:spPr>
          <a:xfrm>
            <a:off x="8064500" y="1524000"/>
            <a:ext cx="3492500" cy="4699000"/>
          </a:xfrm>
          <a:prstGeom prst="roundRect">
            <a:avLst>
              <a:gd name="adj" fmla="val 4000"/>
            </a:avLst>
          </a:prstGeom>
          <a:solidFill>
            <a:srgbClr val="F5F2ED"/>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884C0E75-30A9-F758-6CB1-7E77D32C01D3}"/>
              </a:ext>
            </a:extLst>
          </p:cNvPr>
          <p:cNvSpPr/>
          <p:nvPr/>
        </p:nvSpPr>
        <p:spPr>
          <a:xfrm>
            <a:off x="8255000" y="1714500"/>
            <a:ext cx="1905000" cy="279400"/>
          </a:xfrm>
          <a:prstGeom prst="roundRect">
            <a:avLst>
              <a:gd name="adj" fmla="val 50000"/>
            </a:avLst>
          </a:prstGeom>
          <a:solidFill>
            <a:srgbClr val="F0ED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50" b="1">
                <a:solidFill>
                  <a:srgbClr val="1A1A1A"/>
                </a:solidFill>
                <a:latin typeface="Segoe UI" panose="020B0502040204020203" pitchFamily="34" charset="0"/>
              </a:rPr>
              <a:t>UPSTREAM FALLBACK</a:t>
            </a:r>
          </a:p>
        </p:txBody>
      </p:sp>
      <p:sp>
        <p:nvSpPr>
          <p:cNvPr id="17" name="TextBox 16">
            <a:extLst>
              <a:ext uri="{FF2B5EF4-FFF2-40B4-BE49-F238E27FC236}">
                <a16:creationId xmlns:a16="http://schemas.microsoft.com/office/drawing/2014/main" id="{BDDBCA59-781E-2925-6F15-8E8E38E52373}"/>
              </a:ext>
            </a:extLst>
          </p:cNvPr>
          <p:cNvSpPr txBox="1"/>
          <p:nvPr/>
        </p:nvSpPr>
        <p:spPr>
          <a:xfrm>
            <a:off x="8255000" y="2095500"/>
            <a:ext cx="3111500" cy="3539430"/>
          </a:xfrm>
          <a:prstGeom prst="rect">
            <a:avLst/>
          </a:prstGeom>
          <a:noFill/>
        </p:spPr>
        <p:txBody>
          <a:bodyPr vert="horz" wrap="square" rtlCol="0">
            <a:spAutoFit/>
          </a:bodyPr>
          <a:lstStyle/>
          <a:p>
            <a:r>
              <a:rPr lang="en-IN" sz="1400" b="1" dirty="0" err="1">
                <a:solidFill>
                  <a:srgbClr val="1A1A1A"/>
                </a:solidFill>
                <a:latin typeface="Segoe UI" panose="020B0502040204020203" pitchFamily="34" charset="0"/>
              </a:rPr>
              <a:t>Groq</a:t>
            </a:r>
            <a:r>
              <a:rPr lang="en-IN" sz="1400" b="1" dirty="0">
                <a:solidFill>
                  <a:srgbClr val="1A1A1A"/>
                </a:solidFill>
                <a:latin typeface="Segoe UI" panose="020B0502040204020203" pitchFamily="34" charset="0"/>
              </a:rPr>
              <a:t> Cloud LPU Fallback
- Trigger: Both Tier 1 and Tier 2 miss.
- Async Dispatch: Non-blocking </a:t>
            </a:r>
            <a:r>
              <a:rPr lang="en-IN" sz="1400" b="1" dirty="0" err="1">
                <a:solidFill>
                  <a:srgbClr val="1A1A1A"/>
                </a:solidFill>
                <a:latin typeface="Segoe UI" panose="020B0502040204020203" pitchFamily="34" charset="0"/>
              </a:rPr>
              <a:t>httpx.AsyncClient</a:t>
            </a:r>
            <a:r>
              <a:rPr lang="en-IN" sz="1400" b="1" dirty="0">
                <a:solidFill>
                  <a:srgbClr val="1A1A1A"/>
                </a:solidFill>
                <a:latin typeface="Segoe UI" panose="020B0502040204020203" pitchFamily="34" charset="0"/>
              </a:rPr>
              <a:t> HTTP POST to </a:t>
            </a:r>
            <a:r>
              <a:rPr lang="en-IN" sz="1400" b="1" dirty="0" err="1">
                <a:solidFill>
                  <a:srgbClr val="1A1A1A"/>
                </a:solidFill>
                <a:latin typeface="Segoe UI" panose="020B0502040204020203" pitchFamily="34" charset="0"/>
              </a:rPr>
              <a:t>Groq</a:t>
            </a:r>
            <a:r>
              <a:rPr lang="en-IN" sz="1400" b="1" dirty="0">
                <a:solidFill>
                  <a:srgbClr val="1A1A1A"/>
                </a:solidFill>
                <a:latin typeface="Segoe UI" panose="020B0502040204020203" pitchFamily="34" charset="0"/>
              </a:rPr>
              <a:t>.
- Active Model: </a:t>
            </a:r>
            <a:r>
              <a:rPr lang="en-IN" sz="1400" b="1" dirty="0" err="1">
                <a:solidFill>
                  <a:srgbClr val="1A1A1A"/>
                </a:solidFill>
                <a:latin typeface="Segoe UI" panose="020B0502040204020203" pitchFamily="34" charset="0"/>
              </a:rPr>
              <a:t>qwen</a:t>
            </a:r>
            <a:r>
              <a:rPr lang="en-IN" sz="1400" b="1" dirty="0">
                <a:solidFill>
                  <a:srgbClr val="1A1A1A"/>
                </a:solidFill>
                <a:latin typeface="Segoe UI" panose="020B0502040204020203" pitchFamily="34" charset="0"/>
              </a:rPr>
              <a:t>/qwen3.8-27b on </a:t>
            </a:r>
            <a:r>
              <a:rPr lang="en-IN" sz="1400" b="1" dirty="0" err="1">
                <a:solidFill>
                  <a:srgbClr val="1A1A1A"/>
                </a:solidFill>
                <a:latin typeface="Segoe UI" panose="020B0502040204020203" pitchFamily="34" charset="0"/>
              </a:rPr>
              <a:t>Groq</a:t>
            </a:r>
            <a:r>
              <a:rPr lang="en-IN" sz="1400" b="1" dirty="0">
                <a:solidFill>
                  <a:srgbClr val="1A1A1A"/>
                </a:solidFill>
                <a:latin typeface="Segoe UI" panose="020B0502040204020203" pitchFamily="34" charset="0"/>
              </a:rPr>
              <a:t> Tensor LPUs.
- Dual-Write Indexing: Newly generated completions and computed embeddings are cached immediately.
- Latency: ~350 - 600 </a:t>
            </a:r>
            <a:r>
              <a:rPr lang="en-IN" sz="1400" b="1" dirty="0" err="1">
                <a:solidFill>
                  <a:srgbClr val="1A1A1A"/>
                </a:solidFill>
                <a:latin typeface="Segoe UI" panose="020B0502040204020203" pitchFamily="34" charset="0"/>
              </a:rPr>
              <a:t>ms</a:t>
            </a:r>
            <a:r>
              <a:rPr lang="en-IN" sz="1400" b="1" dirty="0">
                <a:solidFill>
                  <a:srgbClr val="1A1A1A"/>
                </a:solidFill>
                <a:latin typeface="Segoe UI" panose="020B0502040204020203" pitchFamily="34" charset="0"/>
              </a:rPr>
              <a:t>
- Telemetry: Full JSON record logged</a:t>
            </a:r>
          </a:p>
        </p:txBody>
      </p:sp>
    </p:spTree>
    <p:extLst>
      <p:ext uri="{BB962C8B-B14F-4D97-AF65-F5344CB8AC3E}">
        <p14:creationId xmlns:p14="http://schemas.microsoft.com/office/powerpoint/2010/main" val="456506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24C5AD-6850-898A-1921-AEAD1496288E}"/>
              </a:ext>
            </a:extLst>
          </p:cNvPr>
          <p:cNvSpPr/>
          <p:nvPr/>
        </p:nvSpPr>
        <p:spPr>
          <a:xfrm>
            <a:off x="0" y="0"/>
            <a:ext cx="12192000" cy="6858000"/>
          </a:xfrm>
          <a:prstGeom prst="rect">
            <a:avLst/>
          </a:prstGeom>
          <a:solidFill>
            <a:srgbClr val="FCF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449708F9-176B-5D03-F195-DDBCE1342750}"/>
              </a:ext>
            </a:extLst>
          </p:cNvPr>
          <p:cNvSpPr/>
          <p:nvPr/>
        </p:nvSpPr>
        <p:spPr>
          <a:xfrm>
            <a:off x="0" y="0"/>
            <a:ext cx="6096000" cy="50800"/>
          </a:xfrm>
          <a:prstGeom prst="rect">
            <a:avLst/>
          </a:prstGeom>
          <a:solidFill>
            <a:srgbClr val="7C8A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25C5E390-4606-C8E7-7F0B-3D500049D7CA}"/>
              </a:ext>
            </a:extLst>
          </p:cNvPr>
          <p:cNvSpPr/>
          <p:nvPr/>
        </p:nvSpPr>
        <p:spPr>
          <a:xfrm>
            <a:off x="6096000" y="0"/>
            <a:ext cx="6096000" cy="50800"/>
          </a:xfrm>
          <a:prstGeom prst="rect">
            <a:avLst/>
          </a:prstGeom>
          <a:solidFill>
            <a:srgbClr val="B36A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E97AF94-4034-5134-C063-4470BFB93664}"/>
              </a:ext>
            </a:extLst>
          </p:cNvPr>
          <p:cNvSpPr txBox="1"/>
          <p:nvPr/>
        </p:nvSpPr>
        <p:spPr>
          <a:xfrm>
            <a:off x="508000" y="6527800"/>
            <a:ext cx="11176000" cy="138499"/>
          </a:xfrm>
          <a:prstGeom prst="rect">
            <a:avLst/>
          </a:prstGeom>
          <a:noFill/>
        </p:spPr>
        <p:txBody>
          <a:bodyPr vert="horz" wrap="square" lIns="0" tIns="0" rIns="0" bIns="0" rtlCol="0">
            <a:spAutoFit/>
          </a:bodyPr>
          <a:lstStyle/>
          <a:p>
            <a:r>
              <a:rPr lang="en-US" sz="900">
                <a:solidFill>
                  <a:srgbClr val="787770"/>
                </a:solidFill>
                <a:latin typeface="Segoe UI" panose="020B0502040204020203" pitchFamily="34" charset="0"/>
              </a:rPr>
              <a:t>Two-Tier LLM Caching and Inference Architecture  |  College Capstone Exam Defense  |  Slide 4 of 12</a:t>
            </a:r>
            <a:endParaRPr lang="en-IN" sz="900">
              <a:solidFill>
                <a:srgbClr val="787770"/>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12B1DA11-5906-70D4-CE85-32A56202E588}"/>
              </a:ext>
            </a:extLst>
          </p:cNvPr>
          <p:cNvSpPr/>
          <p:nvPr/>
        </p:nvSpPr>
        <p:spPr>
          <a:xfrm>
            <a:off x="508000" y="279400"/>
            <a:ext cx="4876800" cy="279400"/>
          </a:xfrm>
          <a:prstGeom prst="roundRect">
            <a:avLst>
              <a:gd name="adj" fmla="val 50000"/>
            </a:avLst>
          </a:prstGeom>
          <a:solidFill>
            <a:srgbClr val="F5F2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US" sz="850" b="1">
                <a:solidFill>
                  <a:srgbClr val="1A1A1A"/>
                </a:solidFill>
                <a:latin typeface="Segoe UI" panose="020B0502040204020203" pitchFamily="34" charset="0"/>
              </a:rPr>
              <a:t>ENGINEERING MILESTONES AND ITERATIVE DEVELOPMENT</a:t>
            </a:r>
            <a:endParaRPr lang="en-IN" sz="850" b="1">
              <a:solidFill>
                <a:srgbClr val="1A1A1A"/>
              </a:solidFill>
              <a:latin typeface="Segoe UI" panose="020B0502040204020203" pitchFamily="34" charset="0"/>
            </a:endParaRPr>
          </a:p>
        </p:txBody>
      </p:sp>
      <p:sp>
        <p:nvSpPr>
          <p:cNvPr id="7" name="TextBox 6">
            <a:extLst>
              <a:ext uri="{FF2B5EF4-FFF2-40B4-BE49-F238E27FC236}">
                <a16:creationId xmlns:a16="http://schemas.microsoft.com/office/drawing/2014/main" id="{55362D03-9615-3AC0-0021-00FA34476340}"/>
              </a:ext>
            </a:extLst>
          </p:cNvPr>
          <p:cNvSpPr txBox="1"/>
          <p:nvPr/>
        </p:nvSpPr>
        <p:spPr>
          <a:xfrm>
            <a:off x="508000" y="609600"/>
            <a:ext cx="11176000" cy="338554"/>
          </a:xfrm>
          <a:prstGeom prst="rect">
            <a:avLst/>
          </a:prstGeom>
          <a:noFill/>
        </p:spPr>
        <p:txBody>
          <a:bodyPr vert="horz" wrap="square" lIns="0" tIns="0" rIns="0" bIns="0" rtlCol="0">
            <a:spAutoFit/>
          </a:bodyPr>
          <a:lstStyle/>
          <a:p>
            <a:r>
              <a:rPr lang="en-IN" sz="2200" b="1">
                <a:solidFill>
                  <a:srgbClr val="1A1A1A"/>
                </a:solidFill>
                <a:latin typeface="Segoe UI" panose="020B0502040204020203" pitchFamily="34" charset="0"/>
              </a:rPr>
              <a:t>Evolutionary Development Progression</a:t>
            </a:r>
          </a:p>
        </p:txBody>
      </p:sp>
      <p:sp>
        <p:nvSpPr>
          <p:cNvPr id="8" name="TextBox 7">
            <a:extLst>
              <a:ext uri="{FF2B5EF4-FFF2-40B4-BE49-F238E27FC236}">
                <a16:creationId xmlns:a16="http://schemas.microsoft.com/office/drawing/2014/main" id="{D2145529-C9E2-CE35-6E1B-F97393C4A8D2}"/>
              </a:ext>
            </a:extLst>
          </p:cNvPr>
          <p:cNvSpPr txBox="1"/>
          <p:nvPr/>
        </p:nvSpPr>
        <p:spPr>
          <a:xfrm>
            <a:off x="508000" y="1066800"/>
            <a:ext cx="11176000" cy="169277"/>
          </a:xfrm>
          <a:prstGeom prst="rect">
            <a:avLst/>
          </a:prstGeom>
          <a:noFill/>
        </p:spPr>
        <p:txBody>
          <a:bodyPr vert="horz" wrap="square" lIns="0" tIns="0" rIns="0" bIns="0" rtlCol="0">
            <a:spAutoFit/>
          </a:bodyPr>
          <a:lstStyle/>
          <a:p>
            <a:r>
              <a:rPr lang="en-US" sz="1100">
                <a:solidFill>
                  <a:srgbClr val="5F5E5B"/>
                </a:solidFill>
                <a:latin typeface="Segoe UI" panose="020B0502040204020203" pitchFamily="34" charset="0"/>
              </a:rPr>
              <a:t>From a Naive Synchronous CPU Server to an Enterprise Two-Tier Architecture</a:t>
            </a:r>
            <a:endParaRPr lang="en-IN" sz="1100">
              <a:solidFill>
                <a:srgbClr val="5F5E5B"/>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DB7AB1DA-1F9C-9641-F935-D878CB917835}"/>
              </a:ext>
            </a:extLst>
          </p:cNvPr>
          <p:cNvSpPr/>
          <p:nvPr/>
        </p:nvSpPr>
        <p:spPr>
          <a:xfrm>
            <a:off x="635000" y="1587500"/>
            <a:ext cx="2603500" cy="4508500"/>
          </a:xfrm>
          <a:prstGeom prst="roundRect">
            <a:avLst>
              <a:gd name="adj" fmla="val 5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740E464E-87B4-1095-0A77-B7B0C16C8E58}"/>
              </a:ext>
            </a:extLst>
          </p:cNvPr>
          <p:cNvSpPr txBox="1"/>
          <p:nvPr/>
        </p:nvSpPr>
        <p:spPr>
          <a:xfrm>
            <a:off x="787400" y="1778000"/>
            <a:ext cx="2298700" cy="2723823"/>
          </a:xfrm>
          <a:prstGeom prst="rect">
            <a:avLst/>
          </a:prstGeom>
          <a:noFill/>
        </p:spPr>
        <p:txBody>
          <a:bodyPr vert="horz" wrap="square" rtlCol="0">
            <a:spAutoFit/>
          </a:bodyPr>
          <a:lstStyle/>
          <a:p>
            <a:r>
              <a:rPr lang="en-US" sz="900" b="1">
                <a:solidFill>
                  <a:srgbClr val="5F5E5B"/>
                </a:solidFill>
                <a:latin typeface="Segoe UI" panose="020B0502040204020203" pitchFamily="34" charset="0"/>
              </a:rPr>
              <a:t>PHASE 1 (Stage A)
Baseline Sync Server
- Implementation:
  server_stage_a.py
- Architecture:
  Hugging Face GPT-2 loaded locally onto CPU.
- Critical Flaw:
  model.generate() ran synchronously in the route handler on the main thread.
- Result:
  Severe head-of-line blocking; concurrent requests completely serialized.</a:t>
            </a:r>
            <a:endParaRPr lang="en-IN" sz="900" b="1">
              <a:solidFill>
                <a:srgbClr val="5F5E5B"/>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0F543823-ED9B-F0BA-C875-78F2413164AA}"/>
              </a:ext>
            </a:extLst>
          </p:cNvPr>
          <p:cNvSpPr/>
          <p:nvPr/>
        </p:nvSpPr>
        <p:spPr>
          <a:xfrm>
            <a:off x="3403600" y="1587500"/>
            <a:ext cx="2603500" cy="4508500"/>
          </a:xfrm>
          <a:prstGeom prst="roundRect">
            <a:avLst>
              <a:gd name="adj" fmla="val 5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AF87B6E-D6F4-BA59-26A1-81D7A67618D5}"/>
              </a:ext>
            </a:extLst>
          </p:cNvPr>
          <p:cNvSpPr txBox="1"/>
          <p:nvPr/>
        </p:nvSpPr>
        <p:spPr>
          <a:xfrm>
            <a:off x="3556000" y="1778000"/>
            <a:ext cx="2298700" cy="2585323"/>
          </a:xfrm>
          <a:prstGeom prst="rect">
            <a:avLst/>
          </a:prstGeom>
          <a:noFill/>
        </p:spPr>
        <p:txBody>
          <a:bodyPr vert="horz" wrap="square" rtlCol="0">
            <a:spAutoFit/>
          </a:bodyPr>
          <a:lstStyle/>
          <a:p>
            <a:r>
              <a:rPr lang="en-IN" sz="900" b="1">
                <a:solidFill>
                  <a:srgbClr val="5F5E5B"/>
                </a:solidFill>
                <a:latin typeface="Segoe UI" panose="020B0502040204020203" pitchFamily="34" charset="0"/>
              </a:rPr>
              <a:t>PHASE 2 (Stage B)
Async Worker Queue
- Implementation:
  server_stage_b.py
- Architecture:
  Decoupled HTTP ingress from PyTorch inference via asyncio.Queue.
- Key Advance:
  Background worker pops requests and offloads to thread pool.
- Result:
  FastAPI event loop never blocks; requests wait cleanly via asyncio.Future.</a:t>
            </a:r>
          </a:p>
        </p:txBody>
      </p:sp>
      <p:sp>
        <p:nvSpPr>
          <p:cNvPr id="13" name="Rectangle: Rounded Corners 12">
            <a:extLst>
              <a:ext uri="{FF2B5EF4-FFF2-40B4-BE49-F238E27FC236}">
                <a16:creationId xmlns:a16="http://schemas.microsoft.com/office/drawing/2014/main" id="{4F4DB1A0-A333-F8C1-D254-2449B4AFDA76}"/>
              </a:ext>
            </a:extLst>
          </p:cNvPr>
          <p:cNvSpPr/>
          <p:nvPr/>
        </p:nvSpPr>
        <p:spPr>
          <a:xfrm>
            <a:off x="6172200" y="1587500"/>
            <a:ext cx="2603500" cy="4508500"/>
          </a:xfrm>
          <a:prstGeom prst="roundRect">
            <a:avLst>
              <a:gd name="adj" fmla="val 5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C49C3AE9-8FB0-8B8E-E1C0-A041DCBF1A6B}"/>
              </a:ext>
            </a:extLst>
          </p:cNvPr>
          <p:cNvSpPr txBox="1"/>
          <p:nvPr/>
        </p:nvSpPr>
        <p:spPr>
          <a:xfrm>
            <a:off x="6324600" y="1778000"/>
            <a:ext cx="2298700" cy="2446824"/>
          </a:xfrm>
          <a:prstGeom prst="rect">
            <a:avLst/>
          </a:prstGeom>
          <a:noFill/>
        </p:spPr>
        <p:txBody>
          <a:bodyPr vert="horz" wrap="square" rtlCol="0">
            <a:spAutoFit/>
          </a:bodyPr>
          <a:lstStyle/>
          <a:p>
            <a:r>
              <a:rPr lang="en-US" sz="900" b="1">
                <a:solidFill>
                  <a:srgbClr val="5F5E5B"/>
                </a:solidFill>
                <a:latin typeface="Segoe UI" panose="020B0502040204020203" pitchFamily="34" charset="0"/>
              </a:rPr>
              <a:t>PHASE 3 (Stage C)
Dynamic Batching
- Implementation:
  server_stage_c.py
- Architecture:
  Batched worker with MAX_BATCH=4 or TIMEOUT=0.2s deadline.
- Technical Feature:
  Left-padding + attention masks for simultaneous causal generation.
- Result:
  Multiplied overall token throughput (TPS) under concurrent load.</a:t>
            </a:r>
            <a:endParaRPr lang="en-IN" sz="900" b="1">
              <a:solidFill>
                <a:srgbClr val="5F5E5B"/>
              </a:solidFill>
              <a:latin typeface="Segoe UI" panose="020B0502040204020203" pitchFamily="34" charset="0"/>
            </a:endParaRPr>
          </a:p>
        </p:txBody>
      </p:sp>
      <p:sp>
        <p:nvSpPr>
          <p:cNvPr id="15" name="Rectangle: Rounded Corners 14">
            <a:extLst>
              <a:ext uri="{FF2B5EF4-FFF2-40B4-BE49-F238E27FC236}">
                <a16:creationId xmlns:a16="http://schemas.microsoft.com/office/drawing/2014/main" id="{DD8D002C-E79D-64C7-1D98-26CD6C92EDBB}"/>
              </a:ext>
            </a:extLst>
          </p:cNvPr>
          <p:cNvSpPr/>
          <p:nvPr/>
        </p:nvSpPr>
        <p:spPr>
          <a:xfrm>
            <a:off x="8940800" y="1587500"/>
            <a:ext cx="2603500" cy="4508500"/>
          </a:xfrm>
          <a:prstGeom prst="roundRect">
            <a:avLst>
              <a:gd name="adj" fmla="val 5000"/>
            </a:avLst>
          </a:prstGeom>
          <a:solidFill>
            <a:srgbClr val="F5F2ED"/>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A42B5FC1-6A94-9D4D-17B7-35A6D6EE2B12}"/>
              </a:ext>
            </a:extLst>
          </p:cNvPr>
          <p:cNvSpPr txBox="1"/>
          <p:nvPr/>
        </p:nvSpPr>
        <p:spPr>
          <a:xfrm>
            <a:off x="9093200" y="1778000"/>
            <a:ext cx="2298700" cy="2446824"/>
          </a:xfrm>
          <a:prstGeom prst="rect">
            <a:avLst/>
          </a:prstGeom>
          <a:noFill/>
        </p:spPr>
        <p:txBody>
          <a:bodyPr vert="horz" wrap="square" rtlCol="0">
            <a:spAutoFit/>
          </a:bodyPr>
          <a:lstStyle/>
          <a:p>
            <a:r>
              <a:rPr lang="en-IN" sz="900" b="1">
                <a:solidFill>
                  <a:srgbClr val="3E4A35"/>
                </a:solidFill>
                <a:latin typeface="Segoe UI" panose="020B0502040204020203" pitchFamily="34" charset="0"/>
              </a:rPr>
              <a:t>PHASE 4 &amp; ROOT (Stage E)
Two-Tier Caching Engine
- Implementation:
  server_stage_d.py -&gt; server.py
- Evolution:
  Phase 4 added exact cache; Root system upgraded to Two-Tier Semantic Engine.
- Production Stack:
  Groq LPU Cloud (Qwen 2.5 27B) + all-MiniLM-L6-v2 + Real-time Web UI.
- Result: Sub-ms exact hits, sub-8ms semantic hits, 98% latency cut.</a:t>
            </a:r>
          </a:p>
        </p:txBody>
      </p:sp>
    </p:spTree>
    <p:extLst>
      <p:ext uri="{BB962C8B-B14F-4D97-AF65-F5344CB8AC3E}">
        <p14:creationId xmlns:p14="http://schemas.microsoft.com/office/powerpoint/2010/main" val="94291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E59FC7-2ECC-CA1C-9BEA-B3A8EB81AE0E}"/>
              </a:ext>
            </a:extLst>
          </p:cNvPr>
          <p:cNvSpPr/>
          <p:nvPr/>
        </p:nvSpPr>
        <p:spPr>
          <a:xfrm>
            <a:off x="0" y="0"/>
            <a:ext cx="12192000" cy="6858000"/>
          </a:xfrm>
          <a:prstGeom prst="rect">
            <a:avLst/>
          </a:prstGeom>
          <a:solidFill>
            <a:srgbClr val="FCF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766ACCD6-98C4-ACA3-021D-77003DB2D32E}"/>
              </a:ext>
            </a:extLst>
          </p:cNvPr>
          <p:cNvSpPr/>
          <p:nvPr/>
        </p:nvSpPr>
        <p:spPr>
          <a:xfrm>
            <a:off x="0" y="0"/>
            <a:ext cx="6096000" cy="50800"/>
          </a:xfrm>
          <a:prstGeom prst="rect">
            <a:avLst/>
          </a:prstGeom>
          <a:solidFill>
            <a:srgbClr val="7C8A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2D5D0489-3DAB-CA52-C3A1-BE66351E7C54}"/>
              </a:ext>
            </a:extLst>
          </p:cNvPr>
          <p:cNvSpPr/>
          <p:nvPr/>
        </p:nvSpPr>
        <p:spPr>
          <a:xfrm>
            <a:off x="6096000" y="0"/>
            <a:ext cx="6096000" cy="50800"/>
          </a:xfrm>
          <a:prstGeom prst="rect">
            <a:avLst/>
          </a:prstGeom>
          <a:solidFill>
            <a:srgbClr val="B36A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2CC105DB-0C25-A649-7E79-E2771C231E91}"/>
              </a:ext>
            </a:extLst>
          </p:cNvPr>
          <p:cNvSpPr txBox="1"/>
          <p:nvPr/>
        </p:nvSpPr>
        <p:spPr>
          <a:xfrm>
            <a:off x="508000" y="6527800"/>
            <a:ext cx="11176000" cy="138499"/>
          </a:xfrm>
          <a:prstGeom prst="rect">
            <a:avLst/>
          </a:prstGeom>
          <a:noFill/>
        </p:spPr>
        <p:txBody>
          <a:bodyPr vert="horz" wrap="square" lIns="0" tIns="0" rIns="0" bIns="0" rtlCol="0">
            <a:spAutoFit/>
          </a:bodyPr>
          <a:lstStyle/>
          <a:p>
            <a:r>
              <a:rPr lang="en-US" sz="900">
                <a:solidFill>
                  <a:srgbClr val="787770"/>
                </a:solidFill>
                <a:latin typeface="Segoe UI" panose="020B0502040204020203" pitchFamily="34" charset="0"/>
              </a:rPr>
              <a:t>Two-Tier LLM Caching and Inference Architecture  |  College Capstone Exam Defense  |  Slide 5 of 12</a:t>
            </a:r>
            <a:endParaRPr lang="en-IN" sz="900">
              <a:solidFill>
                <a:srgbClr val="787770"/>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6716B982-D81E-E18E-7EE4-3ACC00899E36}"/>
              </a:ext>
            </a:extLst>
          </p:cNvPr>
          <p:cNvSpPr/>
          <p:nvPr/>
        </p:nvSpPr>
        <p:spPr>
          <a:xfrm>
            <a:off x="508000" y="279400"/>
            <a:ext cx="3835400" cy="279400"/>
          </a:xfrm>
          <a:prstGeom prst="roundRect">
            <a:avLst>
              <a:gd name="adj" fmla="val 50000"/>
            </a:avLst>
          </a:prstGeom>
          <a:solidFill>
            <a:srgbClr val="D8E7C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US" sz="850" b="1">
                <a:solidFill>
                  <a:srgbClr val="3E4A35"/>
                </a:solidFill>
                <a:latin typeface="Segoe UI" panose="020B0502040204020203" pitchFamily="34" charset="0"/>
              </a:rPr>
              <a:t>EXECUTION LIFECYCLE AND DECISION TREE</a:t>
            </a:r>
            <a:endParaRPr lang="en-IN" sz="850" b="1">
              <a:solidFill>
                <a:srgbClr val="3E4A35"/>
              </a:solidFill>
              <a:latin typeface="Segoe UI" panose="020B0502040204020203" pitchFamily="34" charset="0"/>
            </a:endParaRPr>
          </a:p>
        </p:txBody>
      </p:sp>
      <p:sp>
        <p:nvSpPr>
          <p:cNvPr id="7" name="TextBox 6">
            <a:extLst>
              <a:ext uri="{FF2B5EF4-FFF2-40B4-BE49-F238E27FC236}">
                <a16:creationId xmlns:a16="http://schemas.microsoft.com/office/drawing/2014/main" id="{21104D52-C93E-132C-0D47-D848113CCD50}"/>
              </a:ext>
            </a:extLst>
          </p:cNvPr>
          <p:cNvSpPr txBox="1"/>
          <p:nvPr/>
        </p:nvSpPr>
        <p:spPr>
          <a:xfrm>
            <a:off x="508000" y="609600"/>
            <a:ext cx="11176000" cy="338554"/>
          </a:xfrm>
          <a:prstGeom prst="rect">
            <a:avLst/>
          </a:prstGeom>
          <a:noFill/>
        </p:spPr>
        <p:txBody>
          <a:bodyPr vert="horz" wrap="square" lIns="0" tIns="0" rIns="0" bIns="0" rtlCol="0">
            <a:spAutoFit/>
          </a:bodyPr>
          <a:lstStyle/>
          <a:p>
            <a:r>
              <a:rPr lang="en-IN" sz="2200" b="1">
                <a:solidFill>
                  <a:srgbClr val="1A1A1A"/>
                </a:solidFill>
                <a:latin typeface="Segoe UI" panose="020B0502040204020203" pitchFamily="34" charset="0"/>
              </a:rPr>
              <a:t>End-to-End Request Lifecycle</a:t>
            </a:r>
          </a:p>
        </p:txBody>
      </p:sp>
      <p:sp>
        <p:nvSpPr>
          <p:cNvPr id="8" name="TextBox 7">
            <a:extLst>
              <a:ext uri="{FF2B5EF4-FFF2-40B4-BE49-F238E27FC236}">
                <a16:creationId xmlns:a16="http://schemas.microsoft.com/office/drawing/2014/main" id="{3E678EBB-F2D8-A3D4-058F-29E55E399850}"/>
              </a:ext>
            </a:extLst>
          </p:cNvPr>
          <p:cNvSpPr txBox="1"/>
          <p:nvPr/>
        </p:nvSpPr>
        <p:spPr>
          <a:xfrm>
            <a:off x="508000" y="1066800"/>
            <a:ext cx="11176000" cy="169277"/>
          </a:xfrm>
          <a:prstGeom prst="rect">
            <a:avLst/>
          </a:prstGeom>
          <a:noFill/>
        </p:spPr>
        <p:txBody>
          <a:bodyPr vert="horz" wrap="square" lIns="0" tIns="0" rIns="0" bIns="0" rtlCol="0">
            <a:spAutoFit/>
          </a:bodyPr>
          <a:lstStyle/>
          <a:p>
            <a:r>
              <a:rPr lang="en-US" sz="1100">
                <a:solidFill>
                  <a:srgbClr val="5F5E5B"/>
                </a:solidFill>
                <a:latin typeface="Segoe UI" panose="020B0502040204020203" pitchFamily="34" charset="0"/>
              </a:rPr>
              <a:t>Step-by-Step Decision Logic from Ingress to Client Telemetry Rendering</a:t>
            </a:r>
            <a:endParaRPr lang="en-IN" sz="1100">
              <a:solidFill>
                <a:srgbClr val="5F5E5B"/>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F32D28F5-A766-48C9-7D6A-00A2A29F430B}"/>
              </a:ext>
            </a:extLst>
          </p:cNvPr>
          <p:cNvSpPr/>
          <p:nvPr/>
        </p:nvSpPr>
        <p:spPr>
          <a:xfrm>
            <a:off x="635000" y="1587500"/>
            <a:ext cx="10922000" cy="863600"/>
          </a:xfrm>
          <a:prstGeom prst="roundRect">
            <a:avLst>
              <a:gd name="adj" fmla="val 8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BFA9EB7F-6401-4707-C1BD-A163D22635C1}"/>
              </a:ext>
            </a:extLst>
          </p:cNvPr>
          <p:cNvSpPr txBox="1"/>
          <p:nvPr/>
        </p:nvSpPr>
        <p:spPr>
          <a:xfrm>
            <a:off x="787400" y="1714500"/>
            <a:ext cx="508473" cy="430887"/>
          </a:xfrm>
          <a:prstGeom prst="rect">
            <a:avLst/>
          </a:prstGeom>
          <a:noFill/>
        </p:spPr>
        <p:txBody>
          <a:bodyPr vert="horz" wrap="none" rtlCol="0">
            <a:spAutoFit/>
          </a:bodyPr>
          <a:lstStyle/>
          <a:p>
            <a:r>
              <a:rPr lang="en-IN" sz="2200" b="1">
                <a:solidFill>
                  <a:srgbClr val="1A1A1A"/>
                </a:solidFill>
                <a:latin typeface="Segoe UI" panose="020B0502040204020203" pitchFamily="34" charset="0"/>
              </a:rPr>
              <a:t>01</a:t>
            </a:r>
          </a:p>
        </p:txBody>
      </p:sp>
      <p:sp>
        <p:nvSpPr>
          <p:cNvPr id="11" name="TextBox 10">
            <a:extLst>
              <a:ext uri="{FF2B5EF4-FFF2-40B4-BE49-F238E27FC236}">
                <a16:creationId xmlns:a16="http://schemas.microsoft.com/office/drawing/2014/main" id="{775F2716-D3F1-1839-9D22-39964595882D}"/>
              </a:ext>
            </a:extLst>
          </p:cNvPr>
          <p:cNvSpPr txBox="1"/>
          <p:nvPr/>
        </p:nvSpPr>
        <p:spPr>
          <a:xfrm>
            <a:off x="1460500" y="1689100"/>
            <a:ext cx="9779000" cy="646331"/>
          </a:xfrm>
          <a:prstGeom prst="rect">
            <a:avLst/>
          </a:prstGeom>
          <a:noFill/>
        </p:spPr>
        <p:txBody>
          <a:bodyPr vert="horz" wrap="square" rtlCol="0">
            <a:spAutoFit/>
          </a:bodyPr>
          <a:lstStyle/>
          <a:p>
            <a:r>
              <a:rPr lang="en-US" sz="1200" b="1">
                <a:solidFill>
                  <a:srgbClr val="1A1A1A"/>
                </a:solidFill>
                <a:latin typeface="Segoe UI" panose="020B0502040204020203" pitchFamily="34" charset="0"/>
              </a:rPr>
              <a:t>Client Request Ingress (POST /generate)
Client transmits prompt, max_new_tokens, and cache flags. Server assigns unique UUID request_id and marks high-precision arrival timestamp.</a:t>
            </a:r>
            <a:endParaRPr lang="en-IN" sz="1200" b="1">
              <a:solidFill>
                <a:srgbClr val="1A1A1A"/>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CE3867D1-45F7-9FDC-3F8D-32914561621B}"/>
              </a:ext>
            </a:extLst>
          </p:cNvPr>
          <p:cNvSpPr/>
          <p:nvPr/>
        </p:nvSpPr>
        <p:spPr>
          <a:xfrm>
            <a:off x="635000" y="2565400"/>
            <a:ext cx="10922000" cy="863600"/>
          </a:xfrm>
          <a:prstGeom prst="roundRect">
            <a:avLst>
              <a:gd name="adj" fmla="val 8000"/>
            </a:avLst>
          </a:prstGeom>
          <a:solidFill>
            <a:srgbClr val="D8E7CA"/>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EE394339-A24B-83DC-14E2-A21C178EF26E}"/>
              </a:ext>
            </a:extLst>
          </p:cNvPr>
          <p:cNvSpPr txBox="1"/>
          <p:nvPr/>
        </p:nvSpPr>
        <p:spPr>
          <a:xfrm>
            <a:off x="787400" y="2692400"/>
            <a:ext cx="508473" cy="430887"/>
          </a:xfrm>
          <a:prstGeom prst="rect">
            <a:avLst/>
          </a:prstGeom>
          <a:noFill/>
        </p:spPr>
        <p:txBody>
          <a:bodyPr vert="horz" wrap="none" rtlCol="0">
            <a:spAutoFit/>
          </a:bodyPr>
          <a:lstStyle/>
          <a:p>
            <a:r>
              <a:rPr lang="en-IN" sz="2200" b="1">
                <a:solidFill>
                  <a:srgbClr val="3E4A35"/>
                </a:solidFill>
                <a:latin typeface="Segoe UI" panose="020B0502040204020203" pitchFamily="34" charset="0"/>
              </a:rPr>
              <a:t>02</a:t>
            </a:r>
          </a:p>
        </p:txBody>
      </p:sp>
      <p:sp>
        <p:nvSpPr>
          <p:cNvPr id="14" name="TextBox 13">
            <a:extLst>
              <a:ext uri="{FF2B5EF4-FFF2-40B4-BE49-F238E27FC236}">
                <a16:creationId xmlns:a16="http://schemas.microsoft.com/office/drawing/2014/main" id="{AD6449CB-38C8-11AA-4DD7-381B14E5CA63}"/>
              </a:ext>
            </a:extLst>
          </p:cNvPr>
          <p:cNvSpPr txBox="1"/>
          <p:nvPr/>
        </p:nvSpPr>
        <p:spPr>
          <a:xfrm>
            <a:off x="1460500" y="2667000"/>
            <a:ext cx="9779000" cy="646331"/>
          </a:xfrm>
          <a:prstGeom prst="rect">
            <a:avLst/>
          </a:prstGeom>
          <a:noFill/>
        </p:spPr>
        <p:txBody>
          <a:bodyPr vert="horz" wrap="square" rtlCol="0">
            <a:spAutoFit/>
          </a:bodyPr>
          <a:lstStyle/>
          <a:p>
            <a:r>
              <a:rPr lang="en-US" sz="1200" b="1">
                <a:solidFill>
                  <a:srgbClr val="1A1A1A"/>
                </a:solidFill>
                <a:latin typeface="Segoe UI" panose="020B0502040204020203" pitchFamily="34" charset="0"/>
              </a:rPr>
              <a:t>Tier 1: Exact Hash Table Cascade Evaluation
Checks in-memory hash store: (1) strict (prompt, tokens) -&gt; (2) cross-token budget clean prompt -&gt; (3) normalized lowercase/trimmed. If found: Return cached text (0.0 ms compute, 1.0 similarity).</a:t>
            </a:r>
            <a:endParaRPr lang="en-IN" sz="1200" b="1">
              <a:solidFill>
                <a:srgbClr val="1A1A1A"/>
              </a:solidFill>
              <a:latin typeface="Segoe UI" panose="020B0502040204020203" pitchFamily="34" charset="0"/>
            </a:endParaRPr>
          </a:p>
        </p:txBody>
      </p:sp>
      <p:sp>
        <p:nvSpPr>
          <p:cNvPr id="15" name="Rectangle: Rounded Corners 14">
            <a:extLst>
              <a:ext uri="{FF2B5EF4-FFF2-40B4-BE49-F238E27FC236}">
                <a16:creationId xmlns:a16="http://schemas.microsoft.com/office/drawing/2014/main" id="{3A82391C-1871-080A-E8BA-F8E49D51EA19}"/>
              </a:ext>
            </a:extLst>
          </p:cNvPr>
          <p:cNvSpPr/>
          <p:nvPr/>
        </p:nvSpPr>
        <p:spPr>
          <a:xfrm>
            <a:off x="635000" y="3543300"/>
            <a:ext cx="10922000" cy="863600"/>
          </a:xfrm>
          <a:prstGeom prst="roundRect">
            <a:avLst>
              <a:gd name="adj" fmla="val 8000"/>
            </a:avLst>
          </a:prstGeom>
          <a:solidFill>
            <a:srgbClr val="FFEFEC"/>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D2DA3802-C484-8C20-9366-CE86DDD69072}"/>
              </a:ext>
            </a:extLst>
          </p:cNvPr>
          <p:cNvSpPr txBox="1"/>
          <p:nvPr/>
        </p:nvSpPr>
        <p:spPr>
          <a:xfrm>
            <a:off x="787400" y="3670300"/>
            <a:ext cx="508473" cy="430887"/>
          </a:xfrm>
          <a:prstGeom prst="rect">
            <a:avLst/>
          </a:prstGeom>
          <a:noFill/>
        </p:spPr>
        <p:txBody>
          <a:bodyPr vert="horz" wrap="none" rtlCol="0">
            <a:spAutoFit/>
          </a:bodyPr>
          <a:lstStyle/>
          <a:p>
            <a:r>
              <a:rPr lang="en-IN" sz="2200" b="1">
                <a:solidFill>
                  <a:srgbClr val="71352B"/>
                </a:solidFill>
                <a:latin typeface="Segoe UI" panose="020B0502040204020203" pitchFamily="34" charset="0"/>
              </a:rPr>
              <a:t>03</a:t>
            </a:r>
          </a:p>
        </p:txBody>
      </p:sp>
      <p:sp>
        <p:nvSpPr>
          <p:cNvPr id="17" name="TextBox 16">
            <a:extLst>
              <a:ext uri="{FF2B5EF4-FFF2-40B4-BE49-F238E27FC236}">
                <a16:creationId xmlns:a16="http://schemas.microsoft.com/office/drawing/2014/main" id="{4A91C918-D8A2-DF2C-2B96-350A12030ECE}"/>
              </a:ext>
            </a:extLst>
          </p:cNvPr>
          <p:cNvSpPr txBox="1"/>
          <p:nvPr/>
        </p:nvSpPr>
        <p:spPr>
          <a:xfrm>
            <a:off x="1460500" y="3644900"/>
            <a:ext cx="9779000" cy="646331"/>
          </a:xfrm>
          <a:prstGeom prst="rect">
            <a:avLst/>
          </a:prstGeom>
          <a:noFill/>
        </p:spPr>
        <p:txBody>
          <a:bodyPr vert="horz" wrap="square" rtlCol="0">
            <a:spAutoFit/>
          </a:bodyPr>
          <a:lstStyle/>
          <a:p>
            <a:r>
              <a:rPr lang="en-IN" sz="1200" b="1">
                <a:solidFill>
                  <a:srgbClr val="1A1A1A"/>
                </a:solidFill>
                <a:latin typeface="Segoe UI" panose="020B0502040204020203" pitchFamily="34" charset="0"/>
              </a:rPr>
              <a:t>Tier 2: Dense Semantic Vector Embedding Scan
If Tier 1 misses: Computes 384-d vector via local all-MiniLM-L6-v2 on CPU (attention-masked mean pooling + L2 normalization). Evaluates dot product cosine similarity across cache. If max(sim) &gt;= 0.90: Return cached text.</a:t>
            </a:r>
          </a:p>
        </p:txBody>
      </p:sp>
      <p:sp>
        <p:nvSpPr>
          <p:cNvPr id="18" name="Rectangle: Rounded Corners 17">
            <a:extLst>
              <a:ext uri="{FF2B5EF4-FFF2-40B4-BE49-F238E27FC236}">
                <a16:creationId xmlns:a16="http://schemas.microsoft.com/office/drawing/2014/main" id="{24FD969B-92CE-B879-4AE9-F16FEC36BB7F}"/>
              </a:ext>
            </a:extLst>
          </p:cNvPr>
          <p:cNvSpPr/>
          <p:nvPr/>
        </p:nvSpPr>
        <p:spPr>
          <a:xfrm>
            <a:off x="635000" y="4521200"/>
            <a:ext cx="10922000" cy="863600"/>
          </a:xfrm>
          <a:prstGeom prst="roundRect">
            <a:avLst>
              <a:gd name="adj" fmla="val 8000"/>
            </a:avLst>
          </a:prstGeom>
          <a:solidFill>
            <a:srgbClr val="F5F2ED"/>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5953393A-2DC7-0406-C32B-D8B977EC951F}"/>
              </a:ext>
            </a:extLst>
          </p:cNvPr>
          <p:cNvSpPr txBox="1"/>
          <p:nvPr/>
        </p:nvSpPr>
        <p:spPr>
          <a:xfrm>
            <a:off x="787400" y="4648200"/>
            <a:ext cx="508473" cy="430887"/>
          </a:xfrm>
          <a:prstGeom prst="rect">
            <a:avLst/>
          </a:prstGeom>
          <a:noFill/>
        </p:spPr>
        <p:txBody>
          <a:bodyPr vert="horz" wrap="none" rtlCol="0">
            <a:spAutoFit/>
          </a:bodyPr>
          <a:lstStyle/>
          <a:p>
            <a:r>
              <a:rPr lang="en-IN" sz="2200" b="1">
                <a:solidFill>
                  <a:srgbClr val="1A1A1A"/>
                </a:solidFill>
                <a:latin typeface="Segoe UI" panose="020B0502040204020203" pitchFamily="34" charset="0"/>
              </a:rPr>
              <a:t>04</a:t>
            </a:r>
          </a:p>
        </p:txBody>
      </p:sp>
      <p:sp>
        <p:nvSpPr>
          <p:cNvPr id="20" name="TextBox 19">
            <a:extLst>
              <a:ext uri="{FF2B5EF4-FFF2-40B4-BE49-F238E27FC236}">
                <a16:creationId xmlns:a16="http://schemas.microsoft.com/office/drawing/2014/main" id="{674FB2D9-D609-9910-3B26-650F613BD472}"/>
              </a:ext>
            </a:extLst>
          </p:cNvPr>
          <p:cNvSpPr txBox="1"/>
          <p:nvPr/>
        </p:nvSpPr>
        <p:spPr>
          <a:xfrm>
            <a:off x="1460500" y="4622800"/>
            <a:ext cx="9779000" cy="646331"/>
          </a:xfrm>
          <a:prstGeom prst="rect">
            <a:avLst/>
          </a:prstGeom>
          <a:noFill/>
        </p:spPr>
        <p:txBody>
          <a:bodyPr vert="horz" wrap="square" rtlCol="0">
            <a:spAutoFit/>
          </a:bodyPr>
          <a:lstStyle/>
          <a:p>
            <a:r>
              <a:rPr lang="en-IN" sz="1200" b="1">
                <a:solidFill>
                  <a:srgbClr val="1A1A1A"/>
                </a:solidFill>
                <a:latin typeface="Segoe UI" panose="020B0502040204020203" pitchFamily="34" charset="0"/>
              </a:rPr>
              <a:t>Full Miss: Upstream Groq Cloud LPU Inference
If both tiers miss: Server initiates non-blocking httpx.AsyncClient call to Groq Cloud API (qwen/qwen3.8-27b). Newly generated completion and prompt embedding are indexed into cache.</a:t>
            </a:r>
          </a:p>
        </p:txBody>
      </p:sp>
      <p:sp>
        <p:nvSpPr>
          <p:cNvPr id="21" name="Rectangle: Rounded Corners 20">
            <a:extLst>
              <a:ext uri="{FF2B5EF4-FFF2-40B4-BE49-F238E27FC236}">
                <a16:creationId xmlns:a16="http://schemas.microsoft.com/office/drawing/2014/main" id="{2BB9DCB9-8197-037C-0542-33DA5D2420CE}"/>
              </a:ext>
            </a:extLst>
          </p:cNvPr>
          <p:cNvSpPr/>
          <p:nvPr/>
        </p:nvSpPr>
        <p:spPr>
          <a:xfrm>
            <a:off x="635000" y="5499100"/>
            <a:ext cx="10922000" cy="863600"/>
          </a:xfrm>
          <a:prstGeom prst="roundRect">
            <a:avLst>
              <a:gd name="adj" fmla="val 8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A0411C1F-AE4B-7321-EE29-308B7811EB93}"/>
              </a:ext>
            </a:extLst>
          </p:cNvPr>
          <p:cNvSpPr txBox="1"/>
          <p:nvPr/>
        </p:nvSpPr>
        <p:spPr>
          <a:xfrm>
            <a:off x="787400" y="5626100"/>
            <a:ext cx="508473" cy="430887"/>
          </a:xfrm>
          <a:prstGeom prst="rect">
            <a:avLst/>
          </a:prstGeom>
          <a:noFill/>
        </p:spPr>
        <p:txBody>
          <a:bodyPr vert="horz" wrap="none" rtlCol="0">
            <a:spAutoFit/>
          </a:bodyPr>
          <a:lstStyle/>
          <a:p>
            <a:r>
              <a:rPr lang="en-IN" sz="2200" b="1">
                <a:solidFill>
                  <a:srgbClr val="3E4A35"/>
                </a:solidFill>
                <a:latin typeface="Segoe UI" panose="020B0502040204020203" pitchFamily="34" charset="0"/>
              </a:rPr>
              <a:t>05</a:t>
            </a:r>
          </a:p>
        </p:txBody>
      </p:sp>
      <p:sp>
        <p:nvSpPr>
          <p:cNvPr id="23" name="TextBox 22">
            <a:extLst>
              <a:ext uri="{FF2B5EF4-FFF2-40B4-BE49-F238E27FC236}">
                <a16:creationId xmlns:a16="http://schemas.microsoft.com/office/drawing/2014/main" id="{8F7F8EAE-8C14-2C1D-EBC4-FE7661F80038}"/>
              </a:ext>
            </a:extLst>
          </p:cNvPr>
          <p:cNvSpPr txBox="1"/>
          <p:nvPr/>
        </p:nvSpPr>
        <p:spPr>
          <a:xfrm>
            <a:off x="1460500" y="5600700"/>
            <a:ext cx="9779000" cy="646331"/>
          </a:xfrm>
          <a:prstGeom prst="rect">
            <a:avLst/>
          </a:prstGeom>
          <a:noFill/>
        </p:spPr>
        <p:txBody>
          <a:bodyPr vert="horz" wrap="square" rtlCol="0">
            <a:spAutoFit/>
          </a:bodyPr>
          <a:lstStyle/>
          <a:p>
            <a:r>
              <a:rPr lang="en-IN" sz="1200" b="1">
                <a:solidFill>
                  <a:srgbClr val="1A1A1A"/>
                </a:solidFill>
                <a:latin typeface="Segoe UI" panose="020B0502040204020203" pitchFamily="34" charset="0"/>
              </a:rPr>
              <a:t>Dual Output: Structured Telemetry &amp; Client Rendering
Appends immutable JSON record to telemetry_metrics.jsonl (queue time, compute time, match type, tokens). Returns GenerateResponse payload to SPA web client, displaying match badge and latency HUD.</a:t>
            </a:r>
          </a:p>
        </p:txBody>
      </p:sp>
    </p:spTree>
    <p:extLst>
      <p:ext uri="{BB962C8B-B14F-4D97-AF65-F5344CB8AC3E}">
        <p14:creationId xmlns:p14="http://schemas.microsoft.com/office/powerpoint/2010/main" val="3628159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BA1ECD-DF43-7543-03A9-761261896E8A}"/>
              </a:ext>
            </a:extLst>
          </p:cNvPr>
          <p:cNvSpPr/>
          <p:nvPr/>
        </p:nvSpPr>
        <p:spPr>
          <a:xfrm>
            <a:off x="0" y="0"/>
            <a:ext cx="12192000" cy="6858000"/>
          </a:xfrm>
          <a:prstGeom prst="rect">
            <a:avLst/>
          </a:prstGeom>
          <a:solidFill>
            <a:srgbClr val="FCF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2EA982CF-AE37-5AB8-29FE-4C48EE6F2AB1}"/>
              </a:ext>
            </a:extLst>
          </p:cNvPr>
          <p:cNvSpPr/>
          <p:nvPr/>
        </p:nvSpPr>
        <p:spPr>
          <a:xfrm>
            <a:off x="0" y="0"/>
            <a:ext cx="6096000" cy="50800"/>
          </a:xfrm>
          <a:prstGeom prst="rect">
            <a:avLst/>
          </a:prstGeom>
          <a:solidFill>
            <a:srgbClr val="7C8A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7621F39A-8986-EABA-D88E-299CD513F107}"/>
              </a:ext>
            </a:extLst>
          </p:cNvPr>
          <p:cNvSpPr/>
          <p:nvPr/>
        </p:nvSpPr>
        <p:spPr>
          <a:xfrm>
            <a:off x="6096000" y="0"/>
            <a:ext cx="6096000" cy="50800"/>
          </a:xfrm>
          <a:prstGeom prst="rect">
            <a:avLst/>
          </a:prstGeom>
          <a:solidFill>
            <a:srgbClr val="B36A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1F7C9535-0B0B-8707-EA6E-401D2849C194}"/>
              </a:ext>
            </a:extLst>
          </p:cNvPr>
          <p:cNvSpPr txBox="1"/>
          <p:nvPr/>
        </p:nvSpPr>
        <p:spPr>
          <a:xfrm>
            <a:off x="508000" y="6527800"/>
            <a:ext cx="11176000" cy="138499"/>
          </a:xfrm>
          <a:prstGeom prst="rect">
            <a:avLst/>
          </a:prstGeom>
          <a:noFill/>
        </p:spPr>
        <p:txBody>
          <a:bodyPr vert="horz" wrap="square" lIns="0" tIns="0" rIns="0" bIns="0" rtlCol="0">
            <a:spAutoFit/>
          </a:bodyPr>
          <a:lstStyle/>
          <a:p>
            <a:r>
              <a:rPr lang="en-US" sz="900">
                <a:solidFill>
                  <a:srgbClr val="787770"/>
                </a:solidFill>
                <a:latin typeface="Segoe UI" panose="020B0502040204020203" pitchFamily="34" charset="0"/>
              </a:rPr>
              <a:t>Two-Tier LLM Caching and Inference Architecture  |  College Capstone Exam Defense  |  Slide 6 of 12</a:t>
            </a:r>
            <a:endParaRPr lang="en-IN" sz="900">
              <a:solidFill>
                <a:srgbClr val="787770"/>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38D5DEF4-B63A-CD70-4240-D74762418155}"/>
              </a:ext>
            </a:extLst>
          </p:cNvPr>
          <p:cNvSpPr/>
          <p:nvPr/>
        </p:nvSpPr>
        <p:spPr>
          <a:xfrm>
            <a:off x="508000" y="279400"/>
            <a:ext cx="4114800" cy="279400"/>
          </a:xfrm>
          <a:prstGeom prst="roundRect">
            <a:avLst>
              <a:gd name="adj" fmla="val 50000"/>
            </a:avLst>
          </a:prstGeom>
          <a:solidFill>
            <a:srgbClr val="FFEF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IN" sz="850" b="1">
                <a:solidFill>
                  <a:srgbClr val="71352B"/>
                </a:solidFill>
                <a:latin typeface="Segoe UI" panose="020B0502040204020203" pitchFamily="34" charset="0"/>
              </a:rPr>
              <a:t>ALGORITHM AND MATHEMATICAL SPECIFICATION</a:t>
            </a:r>
          </a:p>
        </p:txBody>
      </p:sp>
      <p:sp>
        <p:nvSpPr>
          <p:cNvPr id="7" name="TextBox 6">
            <a:extLst>
              <a:ext uri="{FF2B5EF4-FFF2-40B4-BE49-F238E27FC236}">
                <a16:creationId xmlns:a16="http://schemas.microsoft.com/office/drawing/2014/main" id="{D2075FFE-B33E-2408-26AA-77941EDDAA1B}"/>
              </a:ext>
            </a:extLst>
          </p:cNvPr>
          <p:cNvSpPr txBox="1"/>
          <p:nvPr/>
        </p:nvSpPr>
        <p:spPr>
          <a:xfrm>
            <a:off x="508000" y="609600"/>
            <a:ext cx="11176000" cy="338554"/>
          </a:xfrm>
          <a:prstGeom prst="rect">
            <a:avLst/>
          </a:prstGeom>
          <a:noFill/>
        </p:spPr>
        <p:txBody>
          <a:bodyPr vert="horz" wrap="square" lIns="0" tIns="0" rIns="0" bIns="0" rtlCol="0">
            <a:spAutoFit/>
          </a:bodyPr>
          <a:lstStyle/>
          <a:p>
            <a:r>
              <a:rPr lang="en-US" sz="2200" b="1">
                <a:solidFill>
                  <a:srgbClr val="1A1A1A"/>
                </a:solidFill>
                <a:latin typeface="Segoe UI" panose="020B0502040204020203" pitchFamily="34" charset="0"/>
              </a:rPr>
              <a:t>Mathematical Formulation of Semantic Pooling</a:t>
            </a:r>
            <a:endParaRPr lang="en-IN" sz="2200" b="1">
              <a:solidFill>
                <a:srgbClr val="1A1A1A"/>
              </a:solidFill>
              <a:latin typeface="Segoe UI" panose="020B0502040204020203" pitchFamily="34" charset="0"/>
            </a:endParaRPr>
          </a:p>
        </p:txBody>
      </p:sp>
      <p:sp>
        <p:nvSpPr>
          <p:cNvPr id="8" name="TextBox 7">
            <a:extLst>
              <a:ext uri="{FF2B5EF4-FFF2-40B4-BE49-F238E27FC236}">
                <a16:creationId xmlns:a16="http://schemas.microsoft.com/office/drawing/2014/main" id="{C7AA1E38-2E72-893D-F757-07E3217BD194}"/>
              </a:ext>
            </a:extLst>
          </p:cNvPr>
          <p:cNvSpPr txBox="1"/>
          <p:nvPr/>
        </p:nvSpPr>
        <p:spPr>
          <a:xfrm>
            <a:off x="508000" y="1066800"/>
            <a:ext cx="11176000" cy="169277"/>
          </a:xfrm>
          <a:prstGeom prst="rect">
            <a:avLst/>
          </a:prstGeom>
          <a:noFill/>
        </p:spPr>
        <p:txBody>
          <a:bodyPr vert="horz" wrap="square" lIns="0" tIns="0" rIns="0" bIns="0" rtlCol="0">
            <a:spAutoFit/>
          </a:bodyPr>
          <a:lstStyle/>
          <a:p>
            <a:r>
              <a:rPr lang="en-US" sz="1100">
                <a:solidFill>
                  <a:srgbClr val="5F5E5B"/>
                </a:solidFill>
                <a:latin typeface="Segoe UI" panose="020B0502040204020203" pitchFamily="34" charset="0"/>
              </a:rPr>
              <a:t>Attention-Masked Mean Pooling, L2 Normalization, and Unit Hypersphere Dot Products</a:t>
            </a:r>
            <a:endParaRPr lang="en-IN" sz="1100">
              <a:solidFill>
                <a:srgbClr val="5F5E5B"/>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FCF15ECE-F43B-9D90-AA2E-9A2742F98C77}"/>
              </a:ext>
            </a:extLst>
          </p:cNvPr>
          <p:cNvSpPr/>
          <p:nvPr/>
        </p:nvSpPr>
        <p:spPr>
          <a:xfrm>
            <a:off x="635000" y="1587500"/>
            <a:ext cx="5334000" cy="2222500"/>
          </a:xfrm>
          <a:prstGeom prst="roundRect">
            <a:avLst>
              <a:gd name="adj" fmla="val 5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F6A765C4-5DD6-7286-D365-80A86AEE467B}"/>
              </a:ext>
            </a:extLst>
          </p:cNvPr>
          <p:cNvSpPr txBox="1"/>
          <p:nvPr/>
        </p:nvSpPr>
        <p:spPr>
          <a:xfrm>
            <a:off x="863600" y="1778000"/>
            <a:ext cx="4876800" cy="1892826"/>
          </a:xfrm>
          <a:prstGeom prst="rect">
            <a:avLst/>
          </a:prstGeom>
          <a:noFill/>
        </p:spPr>
        <p:txBody>
          <a:bodyPr vert="horz" wrap="square" rtlCol="0">
            <a:spAutoFit/>
          </a:bodyPr>
          <a:lstStyle/>
          <a:p>
            <a:r>
              <a:rPr lang="en-IN" sz="1300" b="1">
                <a:solidFill>
                  <a:srgbClr val="71352B"/>
                </a:solidFill>
                <a:latin typeface="Segoe UI" panose="020B0502040204020203" pitchFamily="34" charset="0"/>
              </a:rPr>
              <a:t>1. Contextual Token Representations
Given a prompt token sequence T = {t_1, t_2, ..., t_L}:
E = Transformer(T) in R^(L x 384)
- all-MiniLM-L6-v2 outputs contextual 384-dimensional vectors for every input token.
- Evaluated locally in PyTorch with emb_model.eval() and torch.no_grad().</a:t>
            </a:r>
          </a:p>
        </p:txBody>
      </p:sp>
      <p:sp>
        <p:nvSpPr>
          <p:cNvPr id="11" name="Rectangle: Rounded Corners 10">
            <a:extLst>
              <a:ext uri="{FF2B5EF4-FFF2-40B4-BE49-F238E27FC236}">
                <a16:creationId xmlns:a16="http://schemas.microsoft.com/office/drawing/2014/main" id="{8A453542-BA02-06CC-3AA2-1F2CB0ECA1BE}"/>
              </a:ext>
            </a:extLst>
          </p:cNvPr>
          <p:cNvSpPr/>
          <p:nvPr/>
        </p:nvSpPr>
        <p:spPr>
          <a:xfrm>
            <a:off x="6223000" y="1587500"/>
            <a:ext cx="5334000" cy="2222500"/>
          </a:xfrm>
          <a:prstGeom prst="roundRect">
            <a:avLst>
              <a:gd name="adj" fmla="val 5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E1347A5D-F3FF-4B34-FE25-8293AEEB34C1}"/>
              </a:ext>
            </a:extLst>
          </p:cNvPr>
          <p:cNvSpPr txBox="1"/>
          <p:nvPr/>
        </p:nvSpPr>
        <p:spPr>
          <a:xfrm>
            <a:off x="6451600" y="1778000"/>
            <a:ext cx="4876800" cy="1892826"/>
          </a:xfrm>
          <a:prstGeom prst="rect">
            <a:avLst/>
          </a:prstGeom>
          <a:noFill/>
        </p:spPr>
        <p:txBody>
          <a:bodyPr vert="horz" wrap="square" rtlCol="0">
            <a:spAutoFit/>
          </a:bodyPr>
          <a:lstStyle/>
          <a:p>
            <a:r>
              <a:rPr lang="en-IN" sz="1300" b="1" dirty="0">
                <a:solidFill>
                  <a:srgbClr val="71352B"/>
                </a:solidFill>
                <a:latin typeface="Segoe UI" panose="020B0502040204020203" pitchFamily="34" charset="0"/>
              </a:rPr>
              <a:t>2. Attention-Masked Mean Pooling
u = sum(</a:t>
            </a:r>
            <a:r>
              <a:rPr lang="en-IN" sz="1300" b="1" dirty="0" err="1">
                <a:solidFill>
                  <a:srgbClr val="71352B"/>
                </a:solidFill>
                <a:latin typeface="Segoe UI" panose="020B0502040204020203" pitchFamily="34" charset="0"/>
              </a:rPr>
              <a:t>e_i</a:t>
            </a:r>
            <a:r>
              <a:rPr lang="en-IN" sz="1300" b="1" dirty="0">
                <a:solidFill>
                  <a:srgbClr val="71352B"/>
                </a:solidFill>
                <a:latin typeface="Segoe UI" panose="020B0502040204020203" pitchFamily="34" charset="0"/>
              </a:rPr>
              <a:t> * </a:t>
            </a:r>
            <a:r>
              <a:rPr lang="en-IN" sz="1300" b="1" dirty="0" err="1">
                <a:solidFill>
                  <a:srgbClr val="71352B"/>
                </a:solidFill>
                <a:latin typeface="Segoe UI" panose="020B0502040204020203" pitchFamily="34" charset="0"/>
              </a:rPr>
              <a:t>m_i</a:t>
            </a:r>
            <a:r>
              <a:rPr lang="en-IN" sz="1300" b="1" dirty="0">
                <a:solidFill>
                  <a:srgbClr val="71352B"/>
                </a:solidFill>
                <a:latin typeface="Segoe UI" panose="020B0502040204020203" pitchFamily="34" charset="0"/>
              </a:rPr>
              <a:t>) / max(sum(</a:t>
            </a:r>
            <a:r>
              <a:rPr lang="en-IN" sz="1300" b="1" dirty="0" err="1">
                <a:solidFill>
                  <a:srgbClr val="71352B"/>
                </a:solidFill>
                <a:latin typeface="Segoe UI" panose="020B0502040204020203" pitchFamily="34" charset="0"/>
              </a:rPr>
              <a:t>m_i</a:t>
            </a:r>
            <a:r>
              <a:rPr lang="en-IN" sz="1300" b="1" dirty="0">
                <a:solidFill>
                  <a:srgbClr val="71352B"/>
                </a:solidFill>
                <a:latin typeface="Segoe UI" panose="020B0502040204020203" pitchFamily="34" charset="0"/>
              </a:rPr>
              <a:t>), 1e-9)
- </a:t>
            </a:r>
            <a:r>
              <a:rPr lang="en-IN" sz="1300" b="1" dirty="0" err="1">
                <a:solidFill>
                  <a:srgbClr val="71352B"/>
                </a:solidFill>
                <a:latin typeface="Segoe UI" panose="020B0502040204020203" pitchFamily="34" charset="0"/>
              </a:rPr>
              <a:t>m_i</a:t>
            </a:r>
            <a:r>
              <a:rPr lang="en-IN" sz="1300" b="1" dirty="0">
                <a:solidFill>
                  <a:srgbClr val="71352B"/>
                </a:solidFill>
                <a:latin typeface="Segoe UI" panose="020B0502040204020203" pitchFamily="34" charset="0"/>
              </a:rPr>
              <a:t> in {0, 1} represents the tokenizer attention mask.
- Prevents zero-padded trailing tokens from corrupting sentence semantics.
- Yields a fixed 384-dimensional sentence vector u regardless of prompt length.</a:t>
            </a:r>
          </a:p>
        </p:txBody>
      </p:sp>
      <p:sp>
        <p:nvSpPr>
          <p:cNvPr id="13" name="Rectangle: Rounded Corners 12">
            <a:extLst>
              <a:ext uri="{FF2B5EF4-FFF2-40B4-BE49-F238E27FC236}">
                <a16:creationId xmlns:a16="http://schemas.microsoft.com/office/drawing/2014/main" id="{9A5A2733-14DB-5A00-C058-68CB0F50ADDD}"/>
              </a:ext>
            </a:extLst>
          </p:cNvPr>
          <p:cNvSpPr/>
          <p:nvPr/>
        </p:nvSpPr>
        <p:spPr>
          <a:xfrm>
            <a:off x="635000" y="4000500"/>
            <a:ext cx="5334000" cy="2222500"/>
          </a:xfrm>
          <a:prstGeom prst="roundRect">
            <a:avLst>
              <a:gd name="adj" fmla="val 5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AFAA3E03-2086-942C-B692-A43E7872821F}"/>
              </a:ext>
            </a:extLst>
          </p:cNvPr>
          <p:cNvSpPr txBox="1"/>
          <p:nvPr/>
        </p:nvSpPr>
        <p:spPr>
          <a:xfrm>
            <a:off x="863600" y="4191000"/>
            <a:ext cx="4876800" cy="1892826"/>
          </a:xfrm>
          <a:prstGeom prst="rect">
            <a:avLst/>
          </a:prstGeom>
          <a:noFill/>
        </p:spPr>
        <p:txBody>
          <a:bodyPr vert="horz" wrap="square" rtlCol="0">
            <a:spAutoFit/>
          </a:bodyPr>
          <a:lstStyle/>
          <a:p>
            <a:r>
              <a:rPr lang="en-IN" sz="1300" b="1">
                <a:solidFill>
                  <a:srgbClr val="3E4A35"/>
                </a:solidFill>
                <a:latin typeface="Segoe UI" panose="020B0502040204020203" pitchFamily="34" charset="0"/>
              </a:rPr>
              <a:t>3. L2 Unit Hypersphere Normalization
v = u / ||u||_2 = u / sqrt( sum(u_k^2) )
- Enforces strict unit length: ||v||_2 = 1.0.
- Maps all prompts onto the surface of a 384-dimensional unit hypersphere S^(383).
- Implemented via torch.nn.functional.normalize(..., p=2, dim=1).</a:t>
            </a:r>
          </a:p>
        </p:txBody>
      </p:sp>
      <p:sp>
        <p:nvSpPr>
          <p:cNvPr id="15" name="Rectangle: Rounded Corners 14">
            <a:extLst>
              <a:ext uri="{FF2B5EF4-FFF2-40B4-BE49-F238E27FC236}">
                <a16:creationId xmlns:a16="http://schemas.microsoft.com/office/drawing/2014/main" id="{823F5E3E-C4A3-9340-075A-4183DAC83ECF}"/>
              </a:ext>
            </a:extLst>
          </p:cNvPr>
          <p:cNvSpPr/>
          <p:nvPr/>
        </p:nvSpPr>
        <p:spPr>
          <a:xfrm>
            <a:off x="6223000" y="4000500"/>
            <a:ext cx="5334000" cy="2222500"/>
          </a:xfrm>
          <a:prstGeom prst="roundRect">
            <a:avLst>
              <a:gd name="adj" fmla="val 5000"/>
            </a:avLst>
          </a:prstGeom>
          <a:solidFill>
            <a:srgbClr val="F5F2ED"/>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AF148357-4350-606C-97C7-135B5342ECC3}"/>
              </a:ext>
            </a:extLst>
          </p:cNvPr>
          <p:cNvSpPr txBox="1"/>
          <p:nvPr/>
        </p:nvSpPr>
        <p:spPr>
          <a:xfrm>
            <a:off x="6451600" y="4191000"/>
            <a:ext cx="4876800" cy="1892826"/>
          </a:xfrm>
          <a:prstGeom prst="rect">
            <a:avLst/>
          </a:prstGeom>
          <a:noFill/>
        </p:spPr>
        <p:txBody>
          <a:bodyPr vert="horz" wrap="square" rtlCol="0">
            <a:spAutoFit/>
          </a:bodyPr>
          <a:lstStyle/>
          <a:p>
            <a:r>
              <a:rPr lang="en-IN" sz="1300" b="1">
                <a:solidFill>
                  <a:srgbClr val="3E4A35"/>
                </a:solidFill>
                <a:latin typeface="Segoe UI" panose="020B0502040204020203" pitchFamily="34" charset="0"/>
              </a:rPr>
              <a:t>4. Cosine Similarity via Dot Product
sim(q, k) = (q . k) / (||q|| * ||k||) = q . k = sum(q_j * k_j)
- Because ||q|| = ||k|| = 1.0, cosine similarity equals pure dot product!
- Reduces expensive square roots and divisions to basic vector MAC operations.
- Decision: If max(sim) &gt;= tau (0.90), Cache Hit accepted.</a:t>
            </a:r>
          </a:p>
        </p:txBody>
      </p:sp>
    </p:spTree>
    <p:extLst>
      <p:ext uri="{BB962C8B-B14F-4D97-AF65-F5344CB8AC3E}">
        <p14:creationId xmlns:p14="http://schemas.microsoft.com/office/powerpoint/2010/main" val="4162128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75AB77-3666-1D90-3D7B-2333106E8F8D}"/>
              </a:ext>
            </a:extLst>
          </p:cNvPr>
          <p:cNvSpPr/>
          <p:nvPr/>
        </p:nvSpPr>
        <p:spPr>
          <a:xfrm>
            <a:off x="0" y="0"/>
            <a:ext cx="12192000" cy="6858000"/>
          </a:xfrm>
          <a:prstGeom prst="rect">
            <a:avLst/>
          </a:prstGeom>
          <a:solidFill>
            <a:srgbClr val="FCF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9D2CBB7C-D404-1F4D-C75A-E33284AEEF3A}"/>
              </a:ext>
            </a:extLst>
          </p:cNvPr>
          <p:cNvSpPr/>
          <p:nvPr/>
        </p:nvSpPr>
        <p:spPr>
          <a:xfrm>
            <a:off x="0" y="0"/>
            <a:ext cx="6096000" cy="50800"/>
          </a:xfrm>
          <a:prstGeom prst="rect">
            <a:avLst/>
          </a:prstGeom>
          <a:solidFill>
            <a:srgbClr val="7C8A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D06F7A66-B8E8-35FF-E25B-63F38512D9E2}"/>
              </a:ext>
            </a:extLst>
          </p:cNvPr>
          <p:cNvSpPr/>
          <p:nvPr/>
        </p:nvSpPr>
        <p:spPr>
          <a:xfrm>
            <a:off x="6096000" y="0"/>
            <a:ext cx="6096000" cy="50800"/>
          </a:xfrm>
          <a:prstGeom prst="rect">
            <a:avLst/>
          </a:prstGeom>
          <a:solidFill>
            <a:srgbClr val="B36A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E901BAF6-0980-E0F7-FB02-60203A06E0A2}"/>
              </a:ext>
            </a:extLst>
          </p:cNvPr>
          <p:cNvSpPr txBox="1"/>
          <p:nvPr/>
        </p:nvSpPr>
        <p:spPr>
          <a:xfrm>
            <a:off x="508000" y="6527800"/>
            <a:ext cx="11176000" cy="138499"/>
          </a:xfrm>
          <a:prstGeom prst="rect">
            <a:avLst/>
          </a:prstGeom>
          <a:noFill/>
        </p:spPr>
        <p:txBody>
          <a:bodyPr vert="horz" wrap="square" lIns="0" tIns="0" rIns="0" bIns="0" rtlCol="0">
            <a:spAutoFit/>
          </a:bodyPr>
          <a:lstStyle/>
          <a:p>
            <a:r>
              <a:rPr lang="en-US" sz="900">
                <a:solidFill>
                  <a:srgbClr val="787770"/>
                </a:solidFill>
                <a:latin typeface="Segoe UI" panose="020B0502040204020203" pitchFamily="34" charset="0"/>
              </a:rPr>
              <a:t>Two-Tier LLM Caching and Inference Architecture  |  College Capstone Exam Defense  |  Slide 7 of 12</a:t>
            </a:r>
            <a:endParaRPr lang="en-IN" sz="900">
              <a:solidFill>
                <a:srgbClr val="787770"/>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37D0181E-7C55-E385-2267-EE705D798744}"/>
              </a:ext>
            </a:extLst>
          </p:cNvPr>
          <p:cNvSpPr/>
          <p:nvPr/>
        </p:nvSpPr>
        <p:spPr>
          <a:xfrm>
            <a:off x="508000" y="279400"/>
            <a:ext cx="5257800" cy="279400"/>
          </a:xfrm>
          <a:prstGeom prst="roundRect">
            <a:avLst>
              <a:gd name="adj" fmla="val 50000"/>
            </a:avLst>
          </a:prstGeom>
          <a:solidFill>
            <a:srgbClr val="FFEF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US" sz="850" b="1">
                <a:solidFill>
                  <a:srgbClr val="71352B"/>
                </a:solidFill>
                <a:latin typeface="Segoe UI" panose="020B0502040204020203" pitchFamily="34" charset="0"/>
              </a:rPr>
              <a:t>EXPERIMENTAL ACCURACY (EVALUATE_SEMANTIC_POOLING.PY)</a:t>
            </a:r>
            <a:endParaRPr lang="en-IN" sz="850" b="1">
              <a:solidFill>
                <a:srgbClr val="71352B"/>
              </a:solidFill>
              <a:latin typeface="Segoe UI" panose="020B0502040204020203" pitchFamily="34" charset="0"/>
            </a:endParaRPr>
          </a:p>
        </p:txBody>
      </p:sp>
      <p:sp>
        <p:nvSpPr>
          <p:cNvPr id="7" name="TextBox 6">
            <a:extLst>
              <a:ext uri="{FF2B5EF4-FFF2-40B4-BE49-F238E27FC236}">
                <a16:creationId xmlns:a16="http://schemas.microsoft.com/office/drawing/2014/main" id="{7C33DC47-9864-5766-192F-AD268F8B4216}"/>
              </a:ext>
            </a:extLst>
          </p:cNvPr>
          <p:cNvSpPr txBox="1"/>
          <p:nvPr/>
        </p:nvSpPr>
        <p:spPr>
          <a:xfrm>
            <a:off x="508000" y="609600"/>
            <a:ext cx="11176000" cy="338554"/>
          </a:xfrm>
          <a:prstGeom prst="rect">
            <a:avLst/>
          </a:prstGeom>
          <a:noFill/>
        </p:spPr>
        <p:txBody>
          <a:bodyPr vert="horz" wrap="square" lIns="0" tIns="0" rIns="0" bIns="0" rtlCol="0">
            <a:spAutoFit/>
          </a:bodyPr>
          <a:lstStyle/>
          <a:p>
            <a:r>
              <a:rPr lang="en-US" sz="2200" b="1">
                <a:solidFill>
                  <a:srgbClr val="1A1A1A"/>
                </a:solidFill>
                <a:latin typeface="Segoe UI" panose="020B0502040204020203" pitchFamily="34" charset="0"/>
              </a:rPr>
              <a:t>Empirical Accuracy &amp; Semantic Trap Evaluation</a:t>
            </a:r>
            <a:endParaRPr lang="en-IN" sz="2200" b="1">
              <a:solidFill>
                <a:srgbClr val="1A1A1A"/>
              </a:solidFill>
              <a:latin typeface="Segoe UI" panose="020B0502040204020203" pitchFamily="34" charset="0"/>
            </a:endParaRPr>
          </a:p>
        </p:txBody>
      </p:sp>
      <p:sp>
        <p:nvSpPr>
          <p:cNvPr id="8" name="TextBox 7">
            <a:extLst>
              <a:ext uri="{FF2B5EF4-FFF2-40B4-BE49-F238E27FC236}">
                <a16:creationId xmlns:a16="http://schemas.microsoft.com/office/drawing/2014/main" id="{D2A47D87-0163-879B-D036-A817F8B6EF14}"/>
              </a:ext>
            </a:extLst>
          </p:cNvPr>
          <p:cNvSpPr txBox="1"/>
          <p:nvPr/>
        </p:nvSpPr>
        <p:spPr>
          <a:xfrm>
            <a:off x="508000" y="1066800"/>
            <a:ext cx="11176000" cy="169277"/>
          </a:xfrm>
          <a:prstGeom prst="rect">
            <a:avLst/>
          </a:prstGeom>
          <a:noFill/>
        </p:spPr>
        <p:txBody>
          <a:bodyPr vert="horz" wrap="square" lIns="0" tIns="0" rIns="0" bIns="0" rtlCol="0">
            <a:spAutoFit/>
          </a:bodyPr>
          <a:lstStyle/>
          <a:p>
            <a:r>
              <a:rPr lang="en-US" sz="1100">
                <a:solidFill>
                  <a:srgbClr val="5F5E5B"/>
                </a:solidFill>
                <a:latin typeface="Segoe UI" panose="020B0502040204020203" pitchFamily="34" charset="0"/>
              </a:rPr>
              <a:t>Threshold Sweep Matrix across 22 Curated Test Pairs (Paraphrases vs Distractors)</a:t>
            </a:r>
            <a:endParaRPr lang="en-IN" sz="1100">
              <a:solidFill>
                <a:srgbClr val="5F5E5B"/>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0ABC9E7F-D864-8FDC-991A-4CFADE255599}"/>
              </a:ext>
            </a:extLst>
          </p:cNvPr>
          <p:cNvSpPr/>
          <p:nvPr/>
        </p:nvSpPr>
        <p:spPr>
          <a:xfrm>
            <a:off x="635000" y="1524000"/>
            <a:ext cx="5334000" cy="1079500"/>
          </a:xfrm>
          <a:prstGeom prst="roundRect">
            <a:avLst>
              <a:gd name="adj" fmla="val 4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27DB01DA-0EFA-6CCF-7484-C678CC531834}"/>
              </a:ext>
            </a:extLst>
          </p:cNvPr>
          <p:cNvSpPr txBox="1"/>
          <p:nvPr/>
        </p:nvSpPr>
        <p:spPr>
          <a:xfrm>
            <a:off x="787400" y="1600200"/>
            <a:ext cx="5029200" cy="600164"/>
          </a:xfrm>
          <a:prstGeom prst="rect">
            <a:avLst/>
          </a:prstGeom>
          <a:noFill/>
        </p:spPr>
        <p:txBody>
          <a:bodyPr vert="horz" wrap="square" rtlCol="0">
            <a:spAutoFit/>
          </a:bodyPr>
          <a:lstStyle/>
          <a:p>
            <a:r>
              <a:rPr lang="en-US" sz="1100" b="1">
                <a:solidFill>
                  <a:srgbClr val="3E4A35"/>
                </a:solidFill>
                <a:latin typeface="Segoe UI" panose="020B0502040204020203" pitchFamily="34" charset="0"/>
              </a:rPr>
              <a:t>11 True Paraphrases (Ground Truth: POOL)
- E.g.: 'What is the capital of France?' vs 'Which city is France capital?'
- Tests synonym swaps, keyword vs natural phrasing, colloquialisms.</a:t>
            </a:r>
            <a:endParaRPr lang="en-IN" sz="1100" b="1">
              <a:solidFill>
                <a:srgbClr val="3E4A35"/>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DBEF72C1-979C-F458-5079-65496768F9F0}"/>
              </a:ext>
            </a:extLst>
          </p:cNvPr>
          <p:cNvSpPr/>
          <p:nvPr/>
        </p:nvSpPr>
        <p:spPr>
          <a:xfrm>
            <a:off x="6223000" y="1524000"/>
            <a:ext cx="5334000" cy="1079500"/>
          </a:xfrm>
          <a:prstGeom prst="roundRect">
            <a:avLst>
              <a:gd name="adj" fmla="val 4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8705D4F7-AD07-ADA5-51D7-703B87D733EB}"/>
              </a:ext>
            </a:extLst>
          </p:cNvPr>
          <p:cNvSpPr txBox="1"/>
          <p:nvPr/>
        </p:nvSpPr>
        <p:spPr>
          <a:xfrm>
            <a:off x="6375400" y="1600200"/>
            <a:ext cx="5029200" cy="600164"/>
          </a:xfrm>
          <a:prstGeom prst="rect">
            <a:avLst/>
          </a:prstGeom>
          <a:noFill/>
        </p:spPr>
        <p:txBody>
          <a:bodyPr vert="horz" wrap="square" rtlCol="0">
            <a:spAutoFit/>
          </a:bodyPr>
          <a:lstStyle/>
          <a:p>
            <a:r>
              <a:rPr lang="en-IN" sz="1100" b="1">
                <a:solidFill>
                  <a:srgbClr val="71352B"/>
                </a:solidFill>
                <a:latin typeface="Segoe UI" panose="020B0502040204020203" pitchFamily="34" charset="0"/>
              </a:rPr>
              <a:t>11 Negative Distractor Traps (Ground Truth: REJECT)
- Entity Swaps ('France' vs 'Spain') | Negation ('fast' vs 'NOT fast')
- Directional ('USD to EUR' vs 'EUR to USD') | Temporal ('2018' vs '2022')</a:t>
            </a:r>
          </a:p>
        </p:txBody>
      </p:sp>
      <p:graphicFrame>
        <p:nvGraphicFramePr>
          <p:cNvPr id="13" name="Table 12">
            <a:extLst>
              <a:ext uri="{FF2B5EF4-FFF2-40B4-BE49-F238E27FC236}">
                <a16:creationId xmlns:a16="http://schemas.microsoft.com/office/drawing/2014/main" id="{AD6111C0-4B69-1C35-C289-BC0C6E992571}"/>
              </a:ext>
            </a:extLst>
          </p:cNvPr>
          <p:cNvGraphicFramePr>
            <a:graphicFrameLocks noGrp="1"/>
          </p:cNvGraphicFramePr>
          <p:nvPr>
            <p:extLst>
              <p:ext uri="{D42A27DB-BD31-4B8C-83A1-F6EECF244321}">
                <p14:modId xmlns:p14="http://schemas.microsoft.com/office/powerpoint/2010/main" val="1322649718"/>
              </p:ext>
            </p:extLst>
          </p:nvPr>
        </p:nvGraphicFramePr>
        <p:xfrm>
          <a:off x="635000" y="2768600"/>
          <a:ext cx="7747000" cy="2349498"/>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928124366"/>
                    </a:ext>
                  </a:extLst>
                </a:gridCol>
                <a:gridCol w="635000">
                  <a:extLst>
                    <a:ext uri="{9D8B030D-6E8A-4147-A177-3AD203B41FA5}">
                      <a16:colId xmlns:a16="http://schemas.microsoft.com/office/drawing/2014/main" val="1232723329"/>
                    </a:ext>
                  </a:extLst>
                </a:gridCol>
                <a:gridCol w="635000">
                  <a:extLst>
                    <a:ext uri="{9D8B030D-6E8A-4147-A177-3AD203B41FA5}">
                      <a16:colId xmlns:a16="http://schemas.microsoft.com/office/drawing/2014/main" val="1421634336"/>
                    </a:ext>
                  </a:extLst>
                </a:gridCol>
                <a:gridCol w="635000">
                  <a:extLst>
                    <a:ext uri="{9D8B030D-6E8A-4147-A177-3AD203B41FA5}">
                      <a16:colId xmlns:a16="http://schemas.microsoft.com/office/drawing/2014/main" val="2418331201"/>
                    </a:ext>
                  </a:extLst>
                </a:gridCol>
                <a:gridCol w="635000">
                  <a:extLst>
                    <a:ext uri="{9D8B030D-6E8A-4147-A177-3AD203B41FA5}">
                      <a16:colId xmlns:a16="http://schemas.microsoft.com/office/drawing/2014/main" val="2870415649"/>
                    </a:ext>
                  </a:extLst>
                </a:gridCol>
                <a:gridCol w="1397000">
                  <a:extLst>
                    <a:ext uri="{9D8B030D-6E8A-4147-A177-3AD203B41FA5}">
                      <a16:colId xmlns:a16="http://schemas.microsoft.com/office/drawing/2014/main" val="309124821"/>
                    </a:ext>
                  </a:extLst>
                </a:gridCol>
                <a:gridCol w="1270000">
                  <a:extLst>
                    <a:ext uri="{9D8B030D-6E8A-4147-A177-3AD203B41FA5}">
                      <a16:colId xmlns:a16="http://schemas.microsoft.com/office/drawing/2014/main" val="2941470425"/>
                    </a:ext>
                  </a:extLst>
                </a:gridCol>
                <a:gridCol w="1397000">
                  <a:extLst>
                    <a:ext uri="{9D8B030D-6E8A-4147-A177-3AD203B41FA5}">
                      <a16:colId xmlns:a16="http://schemas.microsoft.com/office/drawing/2014/main" val="1652501107"/>
                    </a:ext>
                  </a:extLst>
                </a:gridCol>
              </a:tblGrid>
              <a:tr h="391583">
                <a:tc>
                  <a:txBody>
                    <a:bodyPr/>
                    <a:lstStyle/>
                    <a:p>
                      <a:r>
                        <a:rPr lang="en-IN" sz="1000" b="1">
                          <a:solidFill>
                            <a:srgbClr val="1A1A1A"/>
                          </a:solidFill>
                          <a:latin typeface="Segoe UI" panose="020B0502040204020203" pitchFamily="34" charset="0"/>
                        </a:rPr>
                        <a:t>Threshold</a:t>
                      </a:r>
                    </a:p>
                  </a:txBody>
                  <a:tcPr>
                    <a:solidFill>
                      <a:srgbClr val="F0EDED"/>
                    </a:solidFill>
                  </a:tcPr>
                </a:tc>
                <a:tc>
                  <a:txBody>
                    <a:bodyPr/>
                    <a:lstStyle/>
                    <a:p>
                      <a:r>
                        <a:rPr lang="en-IN" sz="1000" b="1">
                          <a:solidFill>
                            <a:srgbClr val="1A1A1A"/>
                          </a:solidFill>
                          <a:latin typeface="Segoe UI" panose="020B0502040204020203" pitchFamily="34" charset="0"/>
                        </a:rPr>
                        <a:t>TP</a:t>
                      </a:r>
                    </a:p>
                  </a:txBody>
                  <a:tcPr>
                    <a:solidFill>
                      <a:srgbClr val="F0EDED"/>
                    </a:solidFill>
                  </a:tcPr>
                </a:tc>
                <a:tc>
                  <a:txBody>
                    <a:bodyPr/>
                    <a:lstStyle/>
                    <a:p>
                      <a:r>
                        <a:rPr lang="en-IN" sz="1000" b="1">
                          <a:solidFill>
                            <a:srgbClr val="1A1A1A"/>
                          </a:solidFill>
                          <a:latin typeface="Segoe UI" panose="020B0502040204020203" pitchFamily="34" charset="0"/>
                        </a:rPr>
                        <a:t>FP</a:t>
                      </a:r>
                    </a:p>
                  </a:txBody>
                  <a:tcPr>
                    <a:solidFill>
                      <a:srgbClr val="F0EDED"/>
                    </a:solidFill>
                  </a:tcPr>
                </a:tc>
                <a:tc>
                  <a:txBody>
                    <a:bodyPr/>
                    <a:lstStyle/>
                    <a:p>
                      <a:r>
                        <a:rPr lang="en-IN" sz="1000" b="1">
                          <a:solidFill>
                            <a:srgbClr val="1A1A1A"/>
                          </a:solidFill>
                          <a:latin typeface="Segoe UI" panose="020B0502040204020203" pitchFamily="34" charset="0"/>
                        </a:rPr>
                        <a:t>FN</a:t>
                      </a:r>
                    </a:p>
                  </a:txBody>
                  <a:tcPr>
                    <a:solidFill>
                      <a:srgbClr val="F0EDED"/>
                    </a:solidFill>
                  </a:tcPr>
                </a:tc>
                <a:tc>
                  <a:txBody>
                    <a:bodyPr/>
                    <a:lstStyle/>
                    <a:p>
                      <a:r>
                        <a:rPr lang="en-IN" sz="1000" b="1">
                          <a:solidFill>
                            <a:srgbClr val="1A1A1A"/>
                          </a:solidFill>
                          <a:latin typeface="Segoe UI" panose="020B0502040204020203" pitchFamily="34" charset="0"/>
                        </a:rPr>
                        <a:t>TN</a:t>
                      </a:r>
                    </a:p>
                  </a:txBody>
                  <a:tcPr>
                    <a:solidFill>
                      <a:srgbClr val="F0EDED"/>
                    </a:solidFill>
                  </a:tcPr>
                </a:tc>
                <a:tc>
                  <a:txBody>
                    <a:bodyPr/>
                    <a:lstStyle/>
                    <a:p>
                      <a:r>
                        <a:rPr lang="en-IN" sz="1000" b="1">
                          <a:solidFill>
                            <a:srgbClr val="1A1A1A"/>
                          </a:solidFill>
                          <a:latin typeface="Segoe UI" panose="020B0502040204020203" pitchFamily="34" charset="0"/>
                        </a:rPr>
                        <a:t>Precision</a:t>
                      </a:r>
                    </a:p>
                  </a:txBody>
                  <a:tcPr>
                    <a:solidFill>
                      <a:srgbClr val="F0EDED"/>
                    </a:solidFill>
                  </a:tcPr>
                </a:tc>
                <a:tc>
                  <a:txBody>
                    <a:bodyPr/>
                    <a:lstStyle/>
                    <a:p>
                      <a:r>
                        <a:rPr lang="en-IN" sz="1000" b="1">
                          <a:solidFill>
                            <a:srgbClr val="1A1A1A"/>
                          </a:solidFill>
                          <a:latin typeface="Segoe UI" panose="020B0502040204020203" pitchFamily="34" charset="0"/>
                        </a:rPr>
                        <a:t>Recall</a:t>
                      </a:r>
                    </a:p>
                  </a:txBody>
                  <a:tcPr>
                    <a:solidFill>
                      <a:srgbClr val="F0EDED"/>
                    </a:solidFill>
                  </a:tcPr>
                </a:tc>
                <a:tc>
                  <a:txBody>
                    <a:bodyPr/>
                    <a:lstStyle/>
                    <a:p>
                      <a:r>
                        <a:rPr lang="en-IN" sz="1000" b="1">
                          <a:solidFill>
                            <a:srgbClr val="1A1A1A"/>
                          </a:solidFill>
                          <a:latin typeface="Segoe UI" panose="020B0502040204020203" pitchFamily="34" charset="0"/>
                        </a:rPr>
                        <a:t>Accuracy</a:t>
                      </a:r>
                    </a:p>
                  </a:txBody>
                  <a:tcPr>
                    <a:solidFill>
                      <a:srgbClr val="F0EDED"/>
                    </a:solidFill>
                  </a:tcPr>
                </a:tc>
                <a:extLst>
                  <a:ext uri="{0D108BD9-81ED-4DB2-BD59-A6C34878D82A}">
                    <a16:rowId xmlns:a16="http://schemas.microsoft.com/office/drawing/2014/main" val="1302937969"/>
                  </a:ext>
                </a:extLst>
              </a:tr>
              <a:tr h="391583">
                <a:tc>
                  <a:txBody>
                    <a:bodyPr/>
                    <a:lstStyle/>
                    <a:p>
                      <a:r>
                        <a:rPr lang="en-IN" sz="950">
                          <a:solidFill>
                            <a:srgbClr val="1A1A1A"/>
                          </a:solidFill>
                          <a:latin typeface="Segoe UI" panose="020B0502040204020203" pitchFamily="34" charset="0"/>
                        </a:rPr>
                        <a:t>0.80</a:t>
                      </a:r>
                    </a:p>
                  </a:txBody>
                  <a:tcPr>
                    <a:solidFill>
                      <a:srgbClr val="FFFFFF"/>
                    </a:solidFill>
                  </a:tcPr>
                </a:tc>
                <a:tc>
                  <a:txBody>
                    <a:bodyPr/>
                    <a:lstStyle/>
                    <a:p>
                      <a:r>
                        <a:rPr lang="en-IN" sz="950">
                          <a:solidFill>
                            <a:srgbClr val="1A1A1A"/>
                          </a:solidFill>
                          <a:latin typeface="Segoe UI" panose="020B0502040204020203" pitchFamily="34" charset="0"/>
                        </a:rPr>
                        <a:t>11</a:t>
                      </a:r>
                    </a:p>
                  </a:txBody>
                  <a:tcPr>
                    <a:solidFill>
                      <a:srgbClr val="FFFFFF"/>
                    </a:solidFill>
                  </a:tcPr>
                </a:tc>
                <a:tc>
                  <a:txBody>
                    <a:bodyPr/>
                    <a:lstStyle/>
                    <a:p>
                      <a:r>
                        <a:rPr lang="en-IN" sz="950">
                          <a:solidFill>
                            <a:srgbClr val="1A1A1A"/>
                          </a:solidFill>
                          <a:latin typeface="Segoe UI" panose="020B0502040204020203" pitchFamily="34" charset="0"/>
                        </a:rPr>
                        <a:t>5</a:t>
                      </a:r>
                    </a:p>
                  </a:txBody>
                  <a:tcPr>
                    <a:solidFill>
                      <a:srgbClr val="FFFFFF"/>
                    </a:solidFill>
                  </a:tcPr>
                </a:tc>
                <a:tc>
                  <a:txBody>
                    <a:bodyPr/>
                    <a:lstStyle/>
                    <a:p>
                      <a:r>
                        <a:rPr lang="en-IN" sz="950">
                          <a:solidFill>
                            <a:srgbClr val="1A1A1A"/>
                          </a:solidFill>
                          <a:latin typeface="Segoe UI" panose="020B0502040204020203" pitchFamily="34" charset="0"/>
                        </a:rPr>
                        <a:t>0</a:t>
                      </a:r>
                    </a:p>
                  </a:txBody>
                  <a:tcPr>
                    <a:solidFill>
                      <a:srgbClr val="FFFFFF"/>
                    </a:solidFill>
                  </a:tcPr>
                </a:tc>
                <a:tc>
                  <a:txBody>
                    <a:bodyPr/>
                    <a:lstStyle/>
                    <a:p>
                      <a:r>
                        <a:rPr lang="en-IN" sz="950">
                          <a:solidFill>
                            <a:srgbClr val="1A1A1A"/>
                          </a:solidFill>
                          <a:latin typeface="Segoe UI" panose="020B0502040204020203" pitchFamily="34" charset="0"/>
                        </a:rPr>
                        <a:t>6</a:t>
                      </a:r>
                    </a:p>
                  </a:txBody>
                  <a:tcPr>
                    <a:solidFill>
                      <a:srgbClr val="FFFFFF"/>
                    </a:solidFill>
                  </a:tcPr>
                </a:tc>
                <a:tc>
                  <a:txBody>
                    <a:bodyPr/>
                    <a:lstStyle/>
                    <a:p>
                      <a:r>
                        <a:rPr lang="en-IN" sz="950">
                          <a:solidFill>
                            <a:srgbClr val="1A1A1A"/>
                          </a:solidFill>
                          <a:latin typeface="Segoe UI" panose="020B0502040204020203" pitchFamily="34" charset="0"/>
                        </a:rPr>
                        <a:t>68.8%</a:t>
                      </a:r>
                    </a:p>
                  </a:txBody>
                  <a:tcPr>
                    <a:solidFill>
                      <a:srgbClr val="FFFFFF"/>
                    </a:solidFill>
                  </a:tcPr>
                </a:tc>
                <a:tc>
                  <a:txBody>
                    <a:bodyPr/>
                    <a:lstStyle/>
                    <a:p>
                      <a:r>
                        <a:rPr lang="en-IN" sz="950">
                          <a:solidFill>
                            <a:srgbClr val="1A1A1A"/>
                          </a:solidFill>
                          <a:latin typeface="Segoe UI" panose="020B0502040204020203" pitchFamily="34" charset="0"/>
                        </a:rPr>
                        <a:t>100.0%</a:t>
                      </a:r>
                    </a:p>
                  </a:txBody>
                  <a:tcPr>
                    <a:solidFill>
                      <a:srgbClr val="FFFFFF"/>
                    </a:solidFill>
                  </a:tcPr>
                </a:tc>
                <a:tc>
                  <a:txBody>
                    <a:bodyPr/>
                    <a:lstStyle/>
                    <a:p>
                      <a:r>
                        <a:rPr lang="en-IN" sz="950">
                          <a:solidFill>
                            <a:srgbClr val="1A1A1A"/>
                          </a:solidFill>
                          <a:latin typeface="Segoe UI" panose="020B0502040204020203" pitchFamily="34" charset="0"/>
                        </a:rPr>
                        <a:t>77.3%</a:t>
                      </a:r>
                    </a:p>
                  </a:txBody>
                  <a:tcPr>
                    <a:solidFill>
                      <a:srgbClr val="FFFFFF"/>
                    </a:solidFill>
                  </a:tcPr>
                </a:tc>
                <a:extLst>
                  <a:ext uri="{0D108BD9-81ED-4DB2-BD59-A6C34878D82A}">
                    <a16:rowId xmlns:a16="http://schemas.microsoft.com/office/drawing/2014/main" val="2140315237"/>
                  </a:ext>
                </a:extLst>
              </a:tr>
              <a:tr h="391583">
                <a:tc>
                  <a:txBody>
                    <a:bodyPr/>
                    <a:lstStyle/>
                    <a:p>
                      <a:r>
                        <a:rPr lang="en-IN" sz="950">
                          <a:solidFill>
                            <a:srgbClr val="1A1A1A"/>
                          </a:solidFill>
                          <a:latin typeface="Segoe UI" panose="020B0502040204020203" pitchFamily="34" charset="0"/>
                        </a:rPr>
                        <a:t>0.85</a:t>
                      </a:r>
                    </a:p>
                  </a:txBody>
                  <a:tcPr>
                    <a:solidFill>
                      <a:srgbClr val="FFFFFF"/>
                    </a:solidFill>
                  </a:tcPr>
                </a:tc>
                <a:tc>
                  <a:txBody>
                    <a:bodyPr/>
                    <a:lstStyle/>
                    <a:p>
                      <a:r>
                        <a:rPr lang="en-IN" sz="950">
                          <a:solidFill>
                            <a:srgbClr val="1A1A1A"/>
                          </a:solidFill>
                          <a:latin typeface="Segoe UI" panose="020B0502040204020203" pitchFamily="34" charset="0"/>
                        </a:rPr>
                        <a:t>11</a:t>
                      </a:r>
                    </a:p>
                  </a:txBody>
                  <a:tcPr>
                    <a:solidFill>
                      <a:srgbClr val="FFFFFF"/>
                    </a:solidFill>
                  </a:tcPr>
                </a:tc>
                <a:tc>
                  <a:txBody>
                    <a:bodyPr/>
                    <a:lstStyle/>
                    <a:p>
                      <a:r>
                        <a:rPr lang="en-IN" sz="950">
                          <a:solidFill>
                            <a:srgbClr val="1A1A1A"/>
                          </a:solidFill>
                          <a:latin typeface="Segoe UI" panose="020B0502040204020203" pitchFamily="34" charset="0"/>
                        </a:rPr>
                        <a:t>2</a:t>
                      </a:r>
                    </a:p>
                  </a:txBody>
                  <a:tcPr>
                    <a:solidFill>
                      <a:srgbClr val="FFFFFF"/>
                    </a:solidFill>
                  </a:tcPr>
                </a:tc>
                <a:tc>
                  <a:txBody>
                    <a:bodyPr/>
                    <a:lstStyle/>
                    <a:p>
                      <a:r>
                        <a:rPr lang="en-IN" sz="950">
                          <a:solidFill>
                            <a:srgbClr val="1A1A1A"/>
                          </a:solidFill>
                          <a:latin typeface="Segoe UI" panose="020B0502040204020203" pitchFamily="34" charset="0"/>
                        </a:rPr>
                        <a:t>0</a:t>
                      </a:r>
                    </a:p>
                  </a:txBody>
                  <a:tcPr>
                    <a:solidFill>
                      <a:srgbClr val="FFFFFF"/>
                    </a:solidFill>
                  </a:tcPr>
                </a:tc>
                <a:tc>
                  <a:txBody>
                    <a:bodyPr/>
                    <a:lstStyle/>
                    <a:p>
                      <a:r>
                        <a:rPr lang="en-IN" sz="950">
                          <a:solidFill>
                            <a:srgbClr val="1A1A1A"/>
                          </a:solidFill>
                          <a:latin typeface="Segoe UI" panose="020B0502040204020203" pitchFamily="34" charset="0"/>
                        </a:rPr>
                        <a:t>9</a:t>
                      </a:r>
                    </a:p>
                  </a:txBody>
                  <a:tcPr>
                    <a:solidFill>
                      <a:srgbClr val="FFFFFF"/>
                    </a:solidFill>
                  </a:tcPr>
                </a:tc>
                <a:tc>
                  <a:txBody>
                    <a:bodyPr/>
                    <a:lstStyle/>
                    <a:p>
                      <a:r>
                        <a:rPr lang="en-IN" sz="950">
                          <a:solidFill>
                            <a:srgbClr val="1A1A1A"/>
                          </a:solidFill>
                          <a:latin typeface="Segoe UI" panose="020B0502040204020203" pitchFamily="34" charset="0"/>
                        </a:rPr>
                        <a:t>84.6%</a:t>
                      </a:r>
                    </a:p>
                  </a:txBody>
                  <a:tcPr>
                    <a:solidFill>
                      <a:srgbClr val="FFFFFF"/>
                    </a:solidFill>
                  </a:tcPr>
                </a:tc>
                <a:tc>
                  <a:txBody>
                    <a:bodyPr/>
                    <a:lstStyle/>
                    <a:p>
                      <a:r>
                        <a:rPr lang="en-IN" sz="950">
                          <a:solidFill>
                            <a:srgbClr val="1A1A1A"/>
                          </a:solidFill>
                          <a:latin typeface="Segoe UI" panose="020B0502040204020203" pitchFamily="34" charset="0"/>
                        </a:rPr>
                        <a:t>100.0%</a:t>
                      </a:r>
                    </a:p>
                  </a:txBody>
                  <a:tcPr>
                    <a:solidFill>
                      <a:srgbClr val="FFFFFF"/>
                    </a:solidFill>
                  </a:tcPr>
                </a:tc>
                <a:tc>
                  <a:txBody>
                    <a:bodyPr/>
                    <a:lstStyle/>
                    <a:p>
                      <a:r>
                        <a:rPr lang="en-IN" sz="950">
                          <a:solidFill>
                            <a:srgbClr val="1A1A1A"/>
                          </a:solidFill>
                          <a:latin typeface="Segoe UI" panose="020B0502040204020203" pitchFamily="34" charset="0"/>
                        </a:rPr>
                        <a:t>90.9%</a:t>
                      </a:r>
                    </a:p>
                  </a:txBody>
                  <a:tcPr>
                    <a:solidFill>
                      <a:srgbClr val="FFFFFF"/>
                    </a:solidFill>
                  </a:tcPr>
                </a:tc>
                <a:extLst>
                  <a:ext uri="{0D108BD9-81ED-4DB2-BD59-A6C34878D82A}">
                    <a16:rowId xmlns:a16="http://schemas.microsoft.com/office/drawing/2014/main" val="431971814"/>
                  </a:ext>
                </a:extLst>
              </a:tr>
              <a:tr h="391583">
                <a:tc>
                  <a:txBody>
                    <a:bodyPr/>
                    <a:lstStyle/>
                    <a:p>
                      <a:r>
                        <a:rPr lang="en-IN" sz="950" b="1">
                          <a:solidFill>
                            <a:srgbClr val="3E4A35"/>
                          </a:solidFill>
                          <a:latin typeface="Segoe UI" panose="020B0502040204020203" pitchFamily="34" charset="0"/>
                        </a:rPr>
                        <a:t>0.90 (Selected)</a:t>
                      </a:r>
                    </a:p>
                  </a:txBody>
                  <a:tcPr>
                    <a:solidFill>
                      <a:srgbClr val="D8E7CA"/>
                    </a:solidFill>
                  </a:tcPr>
                </a:tc>
                <a:tc>
                  <a:txBody>
                    <a:bodyPr/>
                    <a:lstStyle/>
                    <a:p>
                      <a:r>
                        <a:rPr lang="en-IN" sz="950" b="1">
                          <a:solidFill>
                            <a:srgbClr val="3E4A35"/>
                          </a:solidFill>
                          <a:latin typeface="Segoe UI" panose="020B0502040204020203" pitchFamily="34" charset="0"/>
                        </a:rPr>
                        <a:t>10</a:t>
                      </a:r>
                    </a:p>
                  </a:txBody>
                  <a:tcPr>
                    <a:solidFill>
                      <a:srgbClr val="D8E7CA"/>
                    </a:solidFill>
                  </a:tcPr>
                </a:tc>
                <a:tc>
                  <a:txBody>
                    <a:bodyPr/>
                    <a:lstStyle/>
                    <a:p>
                      <a:r>
                        <a:rPr lang="en-IN" sz="950" b="1">
                          <a:solidFill>
                            <a:srgbClr val="3E4A35"/>
                          </a:solidFill>
                          <a:latin typeface="Segoe UI" panose="020B0502040204020203" pitchFamily="34" charset="0"/>
                        </a:rPr>
                        <a:t>0</a:t>
                      </a:r>
                    </a:p>
                  </a:txBody>
                  <a:tcPr>
                    <a:solidFill>
                      <a:srgbClr val="D8E7CA"/>
                    </a:solidFill>
                  </a:tcPr>
                </a:tc>
                <a:tc>
                  <a:txBody>
                    <a:bodyPr/>
                    <a:lstStyle/>
                    <a:p>
                      <a:r>
                        <a:rPr lang="en-IN" sz="950" b="1">
                          <a:solidFill>
                            <a:srgbClr val="3E4A35"/>
                          </a:solidFill>
                          <a:latin typeface="Segoe UI" panose="020B0502040204020203" pitchFamily="34" charset="0"/>
                        </a:rPr>
                        <a:t>1</a:t>
                      </a:r>
                    </a:p>
                  </a:txBody>
                  <a:tcPr>
                    <a:solidFill>
                      <a:srgbClr val="D8E7CA"/>
                    </a:solidFill>
                  </a:tcPr>
                </a:tc>
                <a:tc>
                  <a:txBody>
                    <a:bodyPr/>
                    <a:lstStyle/>
                    <a:p>
                      <a:r>
                        <a:rPr lang="en-IN" sz="950" b="1">
                          <a:solidFill>
                            <a:srgbClr val="3E4A35"/>
                          </a:solidFill>
                          <a:latin typeface="Segoe UI" panose="020B0502040204020203" pitchFamily="34" charset="0"/>
                        </a:rPr>
                        <a:t>11</a:t>
                      </a:r>
                    </a:p>
                  </a:txBody>
                  <a:tcPr>
                    <a:solidFill>
                      <a:srgbClr val="D8E7CA"/>
                    </a:solidFill>
                  </a:tcPr>
                </a:tc>
                <a:tc>
                  <a:txBody>
                    <a:bodyPr/>
                    <a:lstStyle/>
                    <a:p>
                      <a:r>
                        <a:rPr lang="en-IN" sz="950" b="1">
                          <a:solidFill>
                            <a:srgbClr val="3E4A35"/>
                          </a:solidFill>
                          <a:latin typeface="Segoe UI" panose="020B0502040204020203" pitchFamily="34" charset="0"/>
                        </a:rPr>
                        <a:t>100.0%</a:t>
                      </a:r>
                    </a:p>
                  </a:txBody>
                  <a:tcPr>
                    <a:solidFill>
                      <a:srgbClr val="D8E7CA"/>
                    </a:solidFill>
                  </a:tcPr>
                </a:tc>
                <a:tc>
                  <a:txBody>
                    <a:bodyPr/>
                    <a:lstStyle/>
                    <a:p>
                      <a:r>
                        <a:rPr lang="en-IN" sz="950" b="1">
                          <a:solidFill>
                            <a:srgbClr val="3E4A35"/>
                          </a:solidFill>
                          <a:latin typeface="Segoe UI" panose="020B0502040204020203" pitchFamily="34" charset="0"/>
                        </a:rPr>
                        <a:t>90.9%</a:t>
                      </a:r>
                    </a:p>
                  </a:txBody>
                  <a:tcPr>
                    <a:solidFill>
                      <a:srgbClr val="D8E7CA"/>
                    </a:solidFill>
                  </a:tcPr>
                </a:tc>
                <a:tc>
                  <a:txBody>
                    <a:bodyPr/>
                    <a:lstStyle/>
                    <a:p>
                      <a:r>
                        <a:rPr lang="en-IN" sz="950" b="1">
                          <a:solidFill>
                            <a:srgbClr val="3E4A35"/>
                          </a:solidFill>
                          <a:latin typeface="Segoe UI" panose="020B0502040204020203" pitchFamily="34" charset="0"/>
                        </a:rPr>
                        <a:t>95.5%</a:t>
                      </a:r>
                    </a:p>
                  </a:txBody>
                  <a:tcPr>
                    <a:solidFill>
                      <a:srgbClr val="D8E7CA"/>
                    </a:solidFill>
                  </a:tcPr>
                </a:tc>
                <a:extLst>
                  <a:ext uri="{0D108BD9-81ED-4DB2-BD59-A6C34878D82A}">
                    <a16:rowId xmlns:a16="http://schemas.microsoft.com/office/drawing/2014/main" val="627059191"/>
                  </a:ext>
                </a:extLst>
              </a:tr>
              <a:tr h="391583">
                <a:tc>
                  <a:txBody>
                    <a:bodyPr/>
                    <a:lstStyle/>
                    <a:p>
                      <a:r>
                        <a:rPr lang="en-IN" sz="950">
                          <a:solidFill>
                            <a:srgbClr val="1A1A1A"/>
                          </a:solidFill>
                          <a:latin typeface="Segoe UI" panose="020B0502040204020203" pitchFamily="34" charset="0"/>
                        </a:rPr>
                        <a:t>0.92</a:t>
                      </a:r>
                    </a:p>
                  </a:txBody>
                  <a:tcPr>
                    <a:solidFill>
                      <a:srgbClr val="FFFFFF"/>
                    </a:solidFill>
                  </a:tcPr>
                </a:tc>
                <a:tc>
                  <a:txBody>
                    <a:bodyPr/>
                    <a:lstStyle/>
                    <a:p>
                      <a:r>
                        <a:rPr lang="en-IN" sz="950">
                          <a:solidFill>
                            <a:srgbClr val="1A1A1A"/>
                          </a:solidFill>
                          <a:latin typeface="Segoe UI" panose="020B0502040204020203" pitchFamily="34" charset="0"/>
                        </a:rPr>
                        <a:t>8</a:t>
                      </a:r>
                    </a:p>
                  </a:txBody>
                  <a:tcPr>
                    <a:solidFill>
                      <a:srgbClr val="FFFFFF"/>
                    </a:solidFill>
                  </a:tcPr>
                </a:tc>
                <a:tc>
                  <a:txBody>
                    <a:bodyPr/>
                    <a:lstStyle/>
                    <a:p>
                      <a:r>
                        <a:rPr lang="en-IN" sz="950">
                          <a:solidFill>
                            <a:srgbClr val="1A1A1A"/>
                          </a:solidFill>
                          <a:latin typeface="Segoe UI" panose="020B0502040204020203" pitchFamily="34" charset="0"/>
                        </a:rPr>
                        <a:t>0</a:t>
                      </a:r>
                    </a:p>
                  </a:txBody>
                  <a:tcPr>
                    <a:solidFill>
                      <a:srgbClr val="FFFFFF"/>
                    </a:solidFill>
                  </a:tcPr>
                </a:tc>
                <a:tc>
                  <a:txBody>
                    <a:bodyPr/>
                    <a:lstStyle/>
                    <a:p>
                      <a:r>
                        <a:rPr lang="en-IN" sz="950">
                          <a:solidFill>
                            <a:srgbClr val="1A1A1A"/>
                          </a:solidFill>
                          <a:latin typeface="Segoe UI" panose="020B0502040204020203" pitchFamily="34" charset="0"/>
                        </a:rPr>
                        <a:t>3</a:t>
                      </a:r>
                    </a:p>
                  </a:txBody>
                  <a:tcPr>
                    <a:solidFill>
                      <a:srgbClr val="FFFFFF"/>
                    </a:solidFill>
                  </a:tcPr>
                </a:tc>
                <a:tc>
                  <a:txBody>
                    <a:bodyPr/>
                    <a:lstStyle/>
                    <a:p>
                      <a:r>
                        <a:rPr lang="en-IN" sz="950">
                          <a:solidFill>
                            <a:srgbClr val="1A1A1A"/>
                          </a:solidFill>
                          <a:latin typeface="Segoe UI" panose="020B0502040204020203" pitchFamily="34" charset="0"/>
                        </a:rPr>
                        <a:t>11</a:t>
                      </a:r>
                    </a:p>
                  </a:txBody>
                  <a:tcPr>
                    <a:solidFill>
                      <a:srgbClr val="FFFFFF"/>
                    </a:solidFill>
                  </a:tcPr>
                </a:tc>
                <a:tc>
                  <a:txBody>
                    <a:bodyPr/>
                    <a:lstStyle/>
                    <a:p>
                      <a:r>
                        <a:rPr lang="en-IN" sz="950">
                          <a:solidFill>
                            <a:srgbClr val="1A1A1A"/>
                          </a:solidFill>
                          <a:latin typeface="Segoe UI" panose="020B0502040204020203" pitchFamily="34" charset="0"/>
                        </a:rPr>
                        <a:t>100.0%</a:t>
                      </a:r>
                    </a:p>
                  </a:txBody>
                  <a:tcPr>
                    <a:solidFill>
                      <a:srgbClr val="FFFFFF"/>
                    </a:solidFill>
                  </a:tcPr>
                </a:tc>
                <a:tc>
                  <a:txBody>
                    <a:bodyPr/>
                    <a:lstStyle/>
                    <a:p>
                      <a:r>
                        <a:rPr lang="en-IN" sz="950">
                          <a:solidFill>
                            <a:srgbClr val="1A1A1A"/>
                          </a:solidFill>
                          <a:latin typeface="Segoe UI" panose="020B0502040204020203" pitchFamily="34" charset="0"/>
                        </a:rPr>
                        <a:t>72.7%</a:t>
                      </a:r>
                    </a:p>
                  </a:txBody>
                  <a:tcPr>
                    <a:solidFill>
                      <a:srgbClr val="FFFFFF"/>
                    </a:solidFill>
                  </a:tcPr>
                </a:tc>
                <a:tc>
                  <a:txBody>
                    <a:bodyPr/>
                    <a:lstStyle/>
                    <a:p>
                      <a:r>
                        <a:rPr lang="en-IN" sz="950">
                          <a:solidFill>
                            <a:srgbClr val="1A1A1A"/>
                          </a:solidFill>
                          <a:latin typeface="Segoe UI" panose="020B0502040204020203" pitchFamily="34" charset="0"/>
                        </a:rPr>
                        <a:t>86.4%</a:t>
                      </a:r>
                    </a:p>
                  </a:txBody>
                  <a:tcPr>
                    <a:solidFill>
                      <a:srgbClr val="FFFFFF"/>
                    </a:solidFill>
                  </a:tcPr>
                </a:tc>
                <a:extLst>
                  <a:ext uri="{0D108BD9-81ED-4DB2-BD59-A6C34878D82A}">
                    <a16:rowId xmlns:a16="http://schemas.microsoft.com/office/drawing/2014/main" val="1749450898"/>
                  </a:ext>
                </a:extLst>
              </a:tr>
              <a:tr h="391583">
                <a:tc>
                  <a:txBody>
                    <a:bodyPr/>
                    <a:lstStyle/>
                    <a:p>
                      <a:r>
                        <a:rPr lang="en-IN" sz="950">
                          <a:solidFill>
                            <a:srgbClr val="1A1A1A"/>
                          </a:solidFill>
                          <a:latin typeface="Segoe UI" panose="020B0502040204020203" pitchFamily="34" charset="0"/>
                        </a:rPr>
                        <a:t>0.95</a:t>
                      </a:r>
                    </a:p>
                  </a:txBody>
                  <a:tcPr>
                    <a:solidFill>
                      <a:srgbClr val="FFFFFF"/>
                    </a:solidFill>
                  </a:tcPr>
                </a:tc>
                <a:tc>
                  <a:txBody>
                    <a:bodyPr/>
                    <a:lstStyle/>
                    <a:p>
                      <a:r>
                        <a:rPr lang="en-IN" sz="950">
                          <a:solidFill>
                            <a:srgbClr val="1A1A1A"/>
                          </a:solidFill>
                          <a:latin typeface="Segoe UI" panose="020B0502040204020203" pitchFamily="34" charset="0"/>
                        </a:rPr>
                        <a:t>3</a:t>
                      </a:r>
                    </a:p>
                  </a:txBody>
                  <a:tcPr>
                    <a:solidFill>
                      <a:srgbClr val="FFFFFF"/>
                    </a:solidFill>
                  </a:tcPr>
                </a:tc>
                <a:tc>
                  <a:txBody>
                    <a:bodyPr/>
                    <a:lstStyle/>
                    <a:p>
                      <a:r>
                        <a:rPr lang="en-IN" sz="950">
                          <a:solidFill>
                            <a:srgbClr val="1A1A1A"/>
                          </a:solidFill>
                          <a:latin typeface="Segoe UI" panose="020B0502040204020203" pitchFamily="34" charset="0"/>
                        </a:rPr>
                        <a:t>0</a:t>
                      </a:r>
                    </a:p>
                  </a:txBody>
                  <a:tcPr>
                    <a:solidFill>
                      <a:srgbClr val="FFFFFF"/>
                    </a:solidFill>
                  </a:tcPr>
                </a:tc>
                <a:tc>
                  <a:txBody>
                    <a:bodyPr/>
                    <a:lstStyle/>
                    <a:p>
                      <a:r>
                        <a:rPr lang="en-IN" sz="950">
                          <a:solidFill>
                            <a:srgbClr val="1A1A1A"/>
                          </a:solidFill>
                          <a:latin typeface="Segoe UI" panose="020B0502040204020203" pitchFamily="34" charset="0"/>
                        </a:rPr>
                        <a:t>8</a:t>
                      </a:r>
                    </a:p>
                  </a:txBody>
                  <a:tcPr>
                    <a:solidFill>
                      <a:srgbClr val="FFFFFF"/>
                    </a:solidFill>
                  </a:tcPr>
                </a:tc>
                <a:tc>
                  <a:txBody>
                    <a:bodyPr/>
                    <a:lstStyle/>
                    <a:p>
                      <a:r>
                        <a:rPr lang="en-IN" sz="950">
                          <a:solidFill>
                            <a:srgbClr val="1A1A1A"/>
                          </a:solidFill>
                          <a:latin typeface="Segoe UI" panose="020B0502040204020203" pitchFamily="34" charset="0"/>
                        </a:rPr>
                        <a:t>11</a:t>
                      </a:r>
                    </a:p>
                  </a:txBody>
                  <a:tcPr>
                    <a:solidFill>
                      <a:srgbClr val="FFFFFF"/>
                    </a:solidFill>
                  </a:tcPr>
                </a:tc>
                <a:tc>
                  <a:txBody>
                    <a:bodyPr/>
                    <a:lstStyle/>
                    <a:p>
                      <a:r>
                        <a:rPr lang="en-IN" sz="950">
                          <a:solidFill>
                            <a:srgbClr val="1A1A1A"/>
                          </a:solidFill>
                          <a:latin typeface="Segoe UI" panose="020B0502040204020203" pitchFamily="34" charset="0"/>
                        </a:rPr>
                        <a:t>100.0%</a:t>
                      </a:r>
                    </a:p>
                  </a:txBody>
                  <a:tcPr>
                    <a:solidFill>
                      <a:srgbClr val="FFFFFF"/>
                    </a:solidFill>
                  </a:tcPr>
                </a:tc>
                <a:tc>
                  <a:txBody>
                    <a:bodyPr/>
                    <a:lstStyle/>
                    <a:p>
                      <a:r>
                        <a:rPr lang="en-IN" sz="950">
                          <a:solidFill>
                            <a:srgbClr val="1A1A1A"/>
                          </a:solidFill>
                          <a:latin typeface="Segoe UI" panose="020B0502040204020203" pitchFamily="34" charset="0"/>
                        </a:rPr>
                        <a:t>27.3%</a:t>
                      </a:r>
                    </a:p>
                  </a:txBody>
                  <a:tcPr>
                    <a:solidFill>
                      <a:srgbClr val="FFFFFF"/>
                    </a:solidFill>
                  </a:tcPr>
                </a:tc>
                <a:tc>
                  <a:txBody>
                    <a:bodyPr/>
                    <a:lstStyle/>
                    <a:p>
                      <a:r>
                        <a:rPr lang="en-IN" sz="950">
                          <a:solidFill>
                            <a:srgbClr val="1A1A1A"/>
                          </a:solidFill>
                          <a:latin typeface="Segoe UI" panose="020B0502040204020203" pitchFamily="34" charset="0"/>
                        </a:rPr>
                        <a:t>63.6%</a:t>
                      </a:r>
                    </a:p>
                  </a:txBody>
                  <a:tcPr>
                    <a:solidFill>
                      <a:srgbClr val="FFFFFF"/>
                    </a:solidFill>
                  </a:tcPr>
                </a:tc>
                <a:extLst>
                  <a:ext uri="{0D108BD9-81ED-4DB2-BD59-A6C34878D82A}">
                    <a16:rowId xmlns:a16="http://schemas.microsoft.com/office/drawing/2014/main" val="2244047943"/>
                  </a:ext>
                </a:extLst>
              </a:tr>
            </a:tbl>
          </a:graphicData>
        </a:graphic>
      </p:graphicFrame>
      <p:sp>
        <p:nvSpPr>
          <p:cNvPr id="14" name="Rectangle: Rounded Corners 13">
            <a:extLst>
              <a:ext uri="{FF2B5EF4-FFF2-40B4-BE49-F238E27FC236}">
                <a16:creationId xmlns:a16="http://schemas.microsoft.com/office/drawing/2014/main" id="{9822F236-DA05-3B5F-7CF0-FFCCD2F4EF06}"/>
              </a:ext>
            </a:extLst>
          </p:cNvPr>
          <p:cNvSpPr/>
          <p:nvPr/>
        </p:nvSpPr>
        <p:spPr>
          <a:xfrm>
            <a:off x="635000" y="5270500"/>
            <a:ext cx="10922000" cy="952500"/>
          </a:xfrm>
          <a:prstGeom prst="roundRect">
            <a:avLst>
              <a:gd name="adj" fmla="val 4000"/>
            </a:avLst>
          </a:prstGeom>
          <a:solidFill>
            <a:srgbClr val="F5F2ED"/>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798F1388-27BD-5F40-3488-F6B437DC4E76}"/>
              </a:ext>
            </a:extLst>
          </p:cNvPr>
          <p:cNvSpPr txBox="1"/>
          <p:nvPr/>
        </p:nvSpPr>
        <p:spPr>
          <a:xfrm>
            <a:off x="825500" y="5359400"/>
            <a:ext cx="10541000" cy="577081"/>
          </a:xfrm>
          <a:prstGeom prst="rect">
            <a:avLst/>
          </a:prstGeom>
          <a:noFill/>
        </p:spPr>
        <p:txBody>
          <a:bodyPr vert="horz" wrap="square" rtlCol="0">
            <a:spAutoFit/>
          </a:bodyPr>
          <a:lstStyle/>
          <a:p>
            <a:r>
              <a:rPr lang="en-IN" sz="1050" b="1">
                <a:solidFill>
                  <a:srgbClr val="71352B"/>
                </a:solidFill>
                <a:latin typeface="Segoe UI" panose="020B0502040204020203" pitchFamily="34" charset="0"/>
              </a:rPr>
              <a:t>KEY DEFENSE FINDING: THE PARETO OPTIMAL BOUNDARY (tau = 0.90)
- At tau = 0.80, the system exhibits severe false-positive hallucination (68.8% precision), answering questions about Spain with answers about France!
- At tau = 0.90, the system achieves 100.0% Precision with ZERO false positives, while retaining 90.9% recall on genuine paraphrases.</a:t>
            </a:r>
          </a:p>
        </p:txBody>
      </p:sp>
    </p:spTree>
    <p:extLst>
      <p:ext uri="{BB962C8B-B14F-4D97-AF65-F5344CB8AC3E}">
        <p14:creationId xmlns:p14="http://schemas.microsoft.com/office/powerpoint/2010/main" val="2640531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9E00040-BEB9-9DE9-472F-5FFCD37C9AA0}"/>
              </a:ext>
            </a:extLst>
          </p:cNvPr>
          <p:cNvSpPr/>
          <p:nvPr/>
        </p:nvSpPr>
        <p:spPr>
          <a:xfrm>
            <a:off x="0" y="0"/>
            <a:ext cx="12192000" cy="6858000"/>
          </a:xfrm>
          <a:prstGeom prst="rect">
            <a:avLst/>
          </a:prstGeom>
          <a:solidFill>
            <a:srgbClr val="FCF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B5DFB06E-7ACD-00E4-8502-9CCBA2B3F87F}"/>
              </a:ext>
            </a:extLst>
          </p:cNvPr>
          <p:cNvSpPr/>
          <p:nvPr/>
        </p:nvSpPr>
        <p:spPr>
          <a:xfrm>
            <a:off x="0" y="0"/>
            <a:ext cx="6096000" cy="50800"/>
          </a:xfrm>
          <a:prstGeom prst="rect">
            <a:avLst/>
          </a:prstGeom>
          <a:solidFill>
            <a:srgbClr val="7C8A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DD83630A-DE57-8A43-0AFC-F01C325136CD}"/>
              </a:ext>
            </a:extLst>
          </p:cNvPr>
          <p:cNvSpPr/>
          <p:nvPr/>
        </p:nvSpPr>
        <p:spPr>
          <a:xfrm>
            <a:off x="6096000" y="0"/>
            <a:ext cx="6096000" cy="50800"/>
          </a:xfrm>
          <a:prstGeom prst="rect">
            <a:avLst/>
          </a:prstGeom>
          <a:solidFill>
            <a:srgbClr val="B36A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F9A20E3-2C70-6E98-C2D4-A31CAE8FA1B3}"/>
              </a:ext>
            </a:extLst>
          </p:cNvPr>
          <p:cNvSpPr txBox="1"/>
          <p:nvPr/>
        </p:nvSpPr>
        <p:spPr>
          <a:xfrm>
            <a:off x="508000" y="6527800"/>
            <a:ext cx="11176000" cy="138499"/>
          </a:xfrm>
          <a:prstGeom prst="rect">
            <a:avLst/>
          </a:prstGeom>
          <a:noFill/>
        </p:spPr>
        <p:txBody>
          <a:bodyPr vert="horz" wrap="square" lIns="0" tIns="0" rIns="0" bIns="0" rtlCol="0">
            <a:spAutoFit/>
          </a:bodyPr>
          <a:lstStyle/>
          <a:p>
            <a:r>
              <a:rPr lang="en-US" sz="900">
                <a:solidFill>
                  <a:srgbClr val="787770"/>
                </a:solidFill>
                <a:latin typeface="Segoe UI" panose="020B0502040204020203" pitchFamily="34" charset="0"/>
              </a:rPr>
              <a:t>Two-Tier LLM Caching and Inference Architecture  |  College Capstone Exam Defense  |  Slide 8 of 12</a:t>
            </a:r>
            <a:endParaRPr lang="en-IN" sz="900">
              <a:solidFill>
                <a:srgbClr val="787770"/>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EB371005-8F1D-D613-6DB9-1412842723C5}"/>
              </a:ext>
            </a:extLst>
          </p:cNvPr>
          <p:cNvSpPr/>
          <p:nvPr/>
        </p:nvSpPr>
        <p:spPr>
          <a:xfrm>
            <a:off x="508000" y="279400"/>
            <a:ext cx="4013200" cy="279400"/>
          </a:xfrm>
          <a:prstGeom prst="roundRect">
            <a:avLst>
              <a:gd name="adj" fmla="val 50000"/>
            </a:avLst>
          </a:prstGeom>
          <a:solidFill>
            <a:srgbClr val="D8E7C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IN" sz="850" b="1">
                <a:solidFill>
                  <a:srgbClr val="3E4A35"/>
                </a:solidFill>
                <a:latin typeface="Segoe UI" panose="020B0502040204020203" pitchFamily="34" charset="0"/>
              </a:rPr>
              <a:t>PERFORMANCE BENCHMARKING (BENCHMARK.PY)</a:t>
            </a:r>
          </a:p>
        </p:txBody>
      </p:sp>
      <p:sp>
        <p:nvSpPr>
          <p:cNvPr id="7" name="TextBox 6">
            <a:extLst>
              <a:ext uri="{FF2B5EF4-FFF2-40B4-BE49-F238E27FC236}">
                <a16:creationId xmlns:a16="http://schemas.microsoft.com/office/drawing/2014/main" id="{CBA268B6-0730-2AEC-327A-5E22C410078C}"/>
              </a:ext>
            </a:extLst>
          </p:cNvPr>
          <p:cNvSpPr txBox="1"/>
          <p:nvPr/>
        </p:nvSpPr>
        <p:spPr>
          <a:xfrm>
            <a:off x="508000" y="609600"/>
            <a:ext cx="11176000" cy="338554"/>
          </a:xfrm>
          <a:prstGeom prst="rect">
            <a:avLst/>
          </a:prstGeom>
          <a:noFill/>
        </p:spPr>
        <p:txBody>
          <a:bodyPr vert="horz" wrap="square" lIns="0" tIns="0" rIns="0" bIns="0" rtlCol="0">
            <a:spAutoFit/>
          </a:bodyPr>
          <a:lstStyle/>
          <a:p>
            <a:r>
              <a:rPr lang="en-US" sz="2200" b="1">
                <a:solidFill>
                  <a:srgbClr val="1A1A1A"/>
                </a:solidFill>
                <a:latin typeface="Segoe UI" panose="020B0502040204020203" pitchFamily="34" charset="0"/>
              </a:rPr>
              <a:t>Empirical Latency and Throughput Benchmark</a:t>
            </a:r>
            <a:endParaRPr lang="en-IN" sz="2200" b="1">
              <a:solidFill>
                <a:srgbClr val="1A1A1A"/>
              </a:solidFill>
              <a:latin typeface="Segoe UI" panose="020B0502040204020203" pitchFamily="34" charset="0"/>
            </a:endParaRPr>
          </a:p>
        </p:txBody>
      </p:sp>
      <p:sp>
        <p:nvSpPr>
          <p:cNvPr id="8" name="TextBox 7">
            <a:extLst>
              <a:ext uri="{FF2B5EF4-FFF2-40B4-BE49-F238E27FC236}">
                <a16:creationId xmlns:a16="http://schemas.microsoft.com/office/drawing/2014/main" id="{250A6530-6F23-4C4B-8F04-FED27FC496BD}"/>
              </a:ext>
            </a:extLst>
          </p:cNvPr>
          <p:cNvSpPr txBox="1"/>
          <p:nvPr/>
        </p:nvSpPr>
        <p:spPr>
          <a:xfrm>
            <a:off x="508000" y="1066800"/>
            <a:ext cx="11176000" cy="169277"/>
          </a:xfrm>
          <a:prstGeom prst="rect">
            <a:avLst/>
          </a:prstGeom>
          <a:noFill/>
        </p:spPr>
        <p:txBody>
          <a:bodyPr vert="horz" wrap="square" lIns="0" tIns="0" rIns="0" bIns="0" rtlCol="0">
            <a:spAutoFit/>
          </a:bodyPr>
          <a:lstStyle/>
          <a:p>
            <a:r>
              <a:rPr lang="en-US" sz="1100">
                <a:solidFill>
                  <a:srgbClr val="5F5E5B"/>
                </a:solidFill>
                <a:latin typeface="Segoe UI" panose="020B0502040204020203" pitchFamily="34" charset="0"/>
              </a:rPr>
              <a:t>Head-to-Head Comparison Across Cold LLM, Tier 1 Exact, and Two-Tier Execution</a:t>
            </a:r>
            <a:endParaRPr lang="en-IN" sz="1100">
              <a:solidFill>
                <a:srgbClr val="5F5E5B"/>
              </a:solidFill>
              <a:latin typeface="Segoe UI" panose="020B0502040204020203" pitchFamily="34" charset="0"/>
            </a:endParaRPr>
          </a:p>
        </p:txBody>
      </p:sp>
      <p:graphicFrame>
        <p:nvGraphicFramePr>
          <p:cNvPr id="9" name="Table 8">
            <a:extLst>
              <a:ext uri="{FF2B5EF4-FFF2-40B4-BE49-F238E27FC236}">
                <a16:creationId xmlns:a16="http://schemas.microsoft.com/office/drawing/2014/main" id="{C7E474D7-CC32-AC19-E3E9-BF386A85A8CD}"/>
              </a:ext>
            </a:extLst>
          </p:cNvPr>
          <p:cNvGraphicFramePr>
            <a:graphicFrameLocks noGrp="1"/>
          </p:cNvGraphicFramePr>
          <p:nvPr>
            <p:extLst>
              <p:ext uri="{D42A27DB-BD31-4B8C-83A1-F6EECF244321}">
                <p14:modId xmlns:p14="http://schemas.microsoft.com/office/powerpoint/2010/main" val="2577821602"/>
              </p:ext>
            </p:extLst>
          </p:nvPr>
        </p:nvGraphicFramePr>
        <p:xfrm>
          <a:off x="635000" y="1587500"/>
          <a:ext cx="6604000" cy="3175002"/>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669449821"/>
                    </a:ext>
                  </a:extLst>
                </a:gridCol>
                <a:gridCol w="1524000">
                  <a:extLst>
                    <a:ext uri="{9D8B030D-6E8A-4147-A177-3AD203B41FA5}">
                      <a16:colId xmlns:a16="http://schemas.microsoft.com/office/drawing/2014/main" val="3604672072"/>
                    </a:ext>
                  </a:extLst>
                </a:gridCol>
                <a:gridCol w="1524000">
                  <a:extLst>
                    <a:ext uri="{9D8B030D-6E8A-4147-A177-3AD203B41FA5}">
                      <a16:colId xmlns:a16="http://schemas.microsoft.com/office/drawing/2014/main" val="1973900841"/>
                    </a:ext>
                  </a:extLst>
                </a:gridCol>
                <a:gridCol w="1524000">
                  <a:extLst>
                    <a:ext uri="{9D8B030D-6E8A-4147-A177-3AD203B41FA5}">
                      <a16:colId xmlns:a16="http://schemas.microsoft.com/office/drawing/2014/main" val="3286982914"/>
                    </a:ext>
                  </a:extLst>
                </a:gridCol>
              </a:tblGrid>
              <a:tr h="529167">
                <a:tc>
                  <a:txBody>
                    <a:bodyPr/>
                    <a:lstStyle/>
                    <a:p>
                      <a:r>
                        <a:rPr lang="en-IN" sz="950" b="1">
                          <a:solidFill>
                            <a:srgbClr val="1A1A1A"/>
                          </a:solidFill>
                          <a:latin typeface="Segoe UI" panose="020B0502040204020203" pitchFamily="34" charset="0"/>
                        </a:rPr>
                        <a:t>Performance Metric</a:t>
                      </a:r>
                    </a:p>
                  </a:txBody>
                  <a:tcPr>
                    <a:solidFill>
                      <a:srgbClr val="F0EDED"/>
                    </a:solidFill>
                  </a:tcPr>
                </a:tc>
                <a:tc>
                  <a:txBody>
                    <a:bodyPr/>
                    <a:lstStyle/>
                    <a:p>
                      <a:r>
                        <a:rPr lang="en-IN" sz="950" b="1">
                          <a:solidFill>
                            <a:srgbClr val="1A1A1A"/>
                          </a:solidFill>
                          <a:latin typeface="Segoe UI" panose="020B0502040204020203" pitchFamily="34" charset="0"/>
                        </a:rPr>
                        <a:t>Mode 1: Direct LLM</a:t>
                      </a:r>
                    </a:p>
                  </a:txBody>
                  <a:tcPr>
                    <a:solidFill>
                      <a:srgbClr val="F0EDED"/>
                    </a:solidFill>
                  </a:tcPr>
                </a:tc>
                <a:tc>
                  <a:txBody>
                    <a:bodyPr/>
                    <a:lstStyle/>
                    <a:p>
                      <a:r>
                        <a:rPr lang="fr-FR" sz="950" b="1">
                          <a:solidFill>
                            <a:srgbClr val="1A1A1A"/>
                          </a:solidFill>
                          <a:latin typeface="Segoe UI" panose="020B0502040204020203" pitchFamily="34" charset="0"/>
                        </a:rPr>
                        <a:t>Mode 2: Tier 1 Cache</a:t>
                      </a:r>
                      <a:endParaRPr lang="en-IN" sz="950" b="1">
                        <a:solidFill>
                          <a:srgbClr val="1A1A1A"/>
                        </a:solidFill>
                        <a:latin typeface="Segoe UI" panose="020B0502040204020203" pitchFamily="34" charset="0"/>
                      </a:endParaRPr>
                    </a:p>
                  </a:txBody>
                  <a:tcPr>
                    <a:solidFill>
                      <a:srgbClr val="F0EDED"/>
                    </a:solidFill>
                  </a:tcPr>
                </a:tc>
                <a:tc>
                  <a:txBody>
                    <a:bodyPr/>
                    <a:lstStyle/>
                    <a:p>
                      <a:r>
                        <a:rPr lang="en-IN" sz="950" b="1">
                          <a:solidFill>
                            <a:srgbClr val="1A1A1A"/>
                          </a:solidFill>
                          <a:latin typeface="Segoe UI" panose="020B0502040204020203" pitchFamily="34" charset="0"/>
                        </a:rPr>
                        <a:t>Mode 3: Two-Tier Cache</a:t>
                      </a:r>
                    </a:p>
                  </a:txBody>
                  <a:tcPr>
                    <a:solidFill>
                      <a:srgbClr val="F0EDED"/>
                    </a:solidFill>
                  </a:tcPr>
                </a:tc>
                <a:extLst>
                  <a:ext uri="{0D108BD9-81ED-4DB2-BD59-A6C34878D82A}">
                    <a16:rowId xmlns:a16="http://schemas.microsoft.com/office/drawing/2014/main" val="502347768"/>
                  </a:ext>
                </a:extLst>
              </a:tr>
              <a:tr h="529167">
                <a:tc>
                  <a:txBody>
                    <a:bodyPr/>
                    <a:lstStyle/>
                    <a:p>
                      <a:r>
                        <a:rPr lang="en-IN" sz="950">
                          <a:solidFill>
                            <a:srgbClr val="1A1A1A"/>
                          </a:solidFill>
                          <a:latin typeface="Segoe UI" panose="020B0502040204020203" pitchFamily="34" charset="0"/>
                        </a:rPr>
                        <a:t>p50 Latency (ms)</a:t>
                      </a:r>
                    </a:p>
                  </a:txBody>
                  <a:tcPr>
                    <a:solidFill>
                      <a:srgbClr val="FFFFFF"/>
                    </a:solidFill>
                  </a:tcPr>
                </a:tc>
                <a:tc>
                  <a:txBody>
                    <a:bodyPr/>
                    <a:lstStyle/>
                    <a:p>
                      <a:r>
                        <a:rPr lang="en-IN" sz="950">
                          <a:solidFill>
                            <a:srgbClr val="1A1A1A"/>
                          </a:solidFill>
                          <a:latin typeface="Segoe UI" panose="020B0502040204020203" pitchFamily="34" charset="0"/>
                        </a:rPr>
                        <a:t>392.9 ms</a:t>
                      </a:r>
                    </a:p>
                  </a:txBody>
                  <a:tcPr>
                    <a:solidFill>
                      <a:srgbClr val="FFFFFF"/>
                    </a:solidFill>
                  </a:tcPr>
                </a:tc>
                <a:tc>
                  <a:txBody>
                    <a:bodyPr/>
                    <a:lstStyle/>
                    <a:p>
                      <a:r>
                        <a:rPr lang="en-IN" sz="950">
                          <a:solidFill>
                            <a:srgbClr val="1A1A1A"/>
                          </a:solidFill>
                          <a:latin typeface="Segoe UI" panose="020B0502040204020203" pitchFamily="34" charset="0"/>
                        </a:rPr>
                        <a:t>268.3 ms</a:t>
                      </a:r>
                    </a:p>
                  </a:txBody>
                  <a:tcPr>
                    <a:solidFill>
                      <a:srgbClr val="FFFFFF"/>
                    </a:solidFill>
                  </a:tcPr>
                </a:tc>
                <a:tc>
                  <a:txBody>
                    <a:bodyPr/>
                    <a:lstStyle/>
                    <a:p>
                      <a:r>
                        <a:rPr lang="en-IN" sz="950" b="1">
                          <a:solidFill>
                            <a:srgbClr val="3E4A35"/>
                          </a:solidFill>
                          <a:latin typeface="Segoe UI" panose="020B0502040204020203" pitchFamily="34" charset="0"/>
                        </a:rPr>
                        <a:t>82.6 ms (-79.0%)</a:t>
                      </a:r>
                    </a:p>
                  </a:txBody>
                  <a:tcPr>
                    <a:solidFill>
                      <a:srgbClr val="D8E7CA"/>
                    </a:solidFill>
                  </a:tcPr>
                </a:tc>
                <a:extLst>
                  <a:ext uri="{0D108BD9-81ED-4DB2-BD59-A6C34878D82A}">
                    <a16:rowId xmlns:a16="http://schemas.microsoft.com/office/drawing/2014/main" val="307244986"/>
                  </a:ext>
                </a:extLst>
              </a:tr>
              <a:tr h="529167">
                <a:tc>
                  <a:txBody>
                    <a:bodyPr/>
                    <a:lstStyle/>
                    <a:p>
                      <a:r>
                        <a:rPr lang="en-IN" sz="950">
                          <a:solidFill>
                            <a:srgbClr val="1A1A1A"/>
                          </a:solidFill>
                          <a:latin typeface="Segoe UI" panose="020B0502040204020203" pitchFamily="34" charset="0"/>
                        </a:rPr>
                        <a:t>p90 Latency (ms)</a:t>
                      </a:r>
                    </a:p>
                  </a:txBody>
                  <a:tcPr>
                    <a:solidFill>
                      <a:srgbClr val="FFFFFF"/>
                    </a:solidFill>
                  </a:tcPr>
                </a:tc>
                <a:tc>
                  <a:txBody>
                    <a:bodyPr/>
                    <a:lstStyle/>
                    <a:p>
                      <a:r>
                        <a:rPr lang="en-IN" sz="950">
                          <a:solidFill>
                            <a:srgbClr val="1A1A1A"/>
                          </a:solidFill>
                          <a:latin typeface="Segoe UI" panose="020B0502040204020203" pitchFamily="34" charset="0"/>
                        </a:rPr>
                        <a:t>393.0 ms</a:t>
                      </a:r>
                    </a:p>
                  </a:txBody>
                  <a:tcPr>
                    <a:solidFill>
                      <a:srgbClr val="FFFFFF"/>
                    </a:solidFill>
                  </a:tcPr>
                </a:tc>
                <a:tc>
                  <a:txBody>
                    <a:bodyPr/>
                    <a:lstStyle/>
                    <a:p>
                      <a:r>
                        <a:rPr lang="en-IN" sz="950">
                          <a:solidFill>
                            <a:srgbClr val="1A1A1A"/>
                          </a:solidFill>
                          <a:latin typeface="Segoe UI" panose="020B0502040204020203" pitchFamily="34" charset="0"/>
                        </a:rPr>
                        <a:t>536.5 ms</a:t>
                      </a:r>
                    </a:p>
                  </a:txBody>
                  <a:tcPr>
                    <a:solidFill>
                      <a:srgbClr val="FFFFFF"/>
                    </a:solidFill>
                  </a:tcPr>
                </a:tc>
                <a:tc>
                  <a:txBody>
                    <a:bodyPr/>
                    <a:lstStyle/>
                    <a:p>
                      <a:r>
                        <a:rPr lang="en-IN" sz="950" b="1">
                          <a:solidFill>
                            <a:srgbClr val="3E4A35"/>
                          </a:solidFill>
                          <a:latin typeface="Segoe UI" panose="020B0502040204020203" pitchFamily="34" charset="0"/>
                        </a:rPr>
                        <a:t>165.3 ms (-58.0%)</a:t>
                      </a:r>
                    </a:p>
                  </a:txBody>
                  <a:tcPr>
                    <a:solidFill>
                      <a:srgbClr val="D8E7CA"/>
                    </a:solidFill>
                  </a:tcPr>
                </a:tc>
                <a:extLst>
                  <a:ext uri="{0D108BD9-81ED-4DB2-BD59-A6C34878D82A}">
                    <a16:rowId xmlns:a16="http://schemas.microsoft.com/office/drawing/2014/main" val="963370179"/>
                  </a:ext>
                </a:extLst>
              </a:tr>
              <a:tr h="529167">
                <a:tc>
                  <a:txBody>
                    <a:bodyPr/>
                    <a:lstStyle/>
                    <a:p>
                      <a:r>
                        <a:rPr lang="en-IN" sz="950">
                          <a:solidFill>
                            <a:srgbClr val="1A1A1A"/>
                          </a:solidFill>
                          <a:latin typeface="Segoe UI" panose="020B0502040204020203" pitchFamily="34" charset="0"/>
                        </a:rPr>
                        <a:t>p99 Latency (ms)</a:t>
                      </a:r>
                    </a:p>
                  </a:txBody>
                  <a:tcPr>
                    <a:solidFill>
                      <a:srgbClr val="FFFFFF"/>
                    </a:solidFill>
                  </a:tcPr>
                </a:tc>
                <a:tc>
                  <a:txBody>
                    <a:bodyPr/>
                    <a:lstStyle/>
                    <a:p>
                      <a:r>
                        <a:rPr lang="en-IN" sz="950">
                          <a:solidFill>
                            <a:srgbClr val="1A1A1A"/>
                          </a:solidFill>
                          <a:latin typeface="Segoe UI" panose="020B0502040204020203" pitchFamily="34" charset="0"/>
                        </a:rPr>
                        <a:t>403.9 ms</a:t>
                      </a:r>
                    </a:p>
                  </a:txBody>
                  <a:tcPr>
                    <a:solidFill>
                      <a:srgbClr val="FFFFFF"/>
                    </a:solidFill>
                  </a:tcPr>
                </a:tc>
                <a:tc>
                  <a:txBody>
                    <a:bodyPr/>
                    <a:lstStyle/>
                    <a:p>
                      <a:r>
                        <a:rPr lang="en-IN" sz="950">
                          <a:solidFill>
                            <a:srgbClr val="1A1A1A"/>
                          </a:solidFill>
                          <a:latin typeface="Segoe UI" panose="020B0502040204020203" pitchFamily="34" charset="0"/>
                        </a:rPr>
                        <a:t>614.0 ms</a:t>
                      </a:r>
                    </a:p>
                  </a:txBody>
                  <a:tcPr>
                    <a:solidFill>
                      <a:srgbClr val="FFFFFF"/>
                    </a:solidFill>
                  </a:tcPr>
                </a:tc>
                <a:tc>
                  <a:txBody>
                    <a:bodyPr/>
                    <a:lstStyle/>
                    <a:p>
                      <a:r>
                        <a:rPr lang="en-IN" sz="950" b="1">
                          <a:solidFill>
                            <a:srgbClr val="3E4A35"/>
                          </a:solidFill>
                          <a:latin typeface="Segoe UI" panose="020B0502040204020203" pitchFamily="34" charset="0"/>
                        </a:rPr>
                        <a:t>223.0 ms (-44.8%)</a:t>
                      </a:r>
                    </a:p>
                  </a:txBody>
                  <a:tcPr>
                    <a:solidFill>
                      <a:srgbClr val="D8E7CA"/>
                    </a:solidFill>
                  </a:tcPr>
                </a:tc>
                <a:extLst>
                  <a:ext uri="{0D108BD9-81ED-4DB2-BD59-A6C34878D82A}">
                    <a16:rowId xmlns:a16="http://schemas.microsoft.com/office/drawing/2014/main" val="1731442476"/>
                  </a:ext>
                </a:extLst>
              </a:tr>
              <a:tr h="529167">
                <a:tc>
                  <a:txBody>
                    <a:bodyPr/>
                    <a:lstStyle/>
                    <a:p>
                      <a:r>
                        <a:rPr lang="en-IN" sz="950">
                          <a:solidFill>
                            <a:srgbClr val="1A1A1A"/>
                          </a:solidFill>
                          <a:latin typeface="Segoe UI" panose="020B0502040204020203" pitchFamily="34" charset="0"/>
                        </a:rPr>
                        <a:t>Throughput (RPS)</a:t>
                      </a:r>
                    </a:p>
                  </a:txBody>
                  <a:tcPr>
                    <a:solidFill>
                      <a:srgbClr val="FFFFFF"/>
                    </a:solidFill>
                  </a:tcPr>
                </a:tc>
                <a:tc>
                  <a:txBody>
                    <a:bodyPr/>
                    <a:lstStyle/>
                    <a:p>
                      <a:r>
                        <a:rPr lang="en-IN" sz="950">
                          <a:solidFill>
                            <a:srgbClr val="1A1A1A"/>
                          </a:solidFill>
                          <a:latin typeface="Segoe UI" panose="020B0502040204020203" pitchFamily="34" charset="0"/>
                        </a:rPr>
                        <a:t>9.4 RPS</a:t>
                      </a:r>
                    </a:p>
                  </a:txBody>
                  <a:tcPr>
                    <a:solidFill>
                      <a:srgbClr val="FFFFFF"/>
                    </a:solidFill>
                  </a:tcPr>
                </a:tc>
                <a:tc>
                  <a:txBody>
                    <a:bodyPr/>
                    <a:lstStyle/>
                    <a:p>
                      <a:r>
                        <a:rPr lang="en-IN" sz="950">
                          <a:solidFill>
                            <a:srgbClr val="1A1A1A"/>
                          </a:solidFill>
                          <a:latin typeface="Segoe UI" panose="020B0502040204020203" pitchFamily="34" charset="0"/>
                        </a:rPr>
                        <a:t>6.2 RPS</a:t>
                      </a:r>
                    </a:p>
                  </a:txBody>
                  <a:tcPr>
                    <a:solidFill>
                      <a:srgbClr val="FFFFFF"/>
                    </a:solidFill>
                  </a:tcPr>
                </a:tc>
                <a:tc>
                  <a:txBody>
                    <a:bodyPr/>
                    <a:lstStyle/>
                    <a:p>
                      <a:r>
                        <a:rPr lang="en-IN" sz="950" b="1">
                          <a:solidFill>
                            <a:srgbClr val="3E4A35"/>
                          </a:solidFill>
                          <a:latin typeface="Segoe UI" panose="020B0502040204020203" pitchFamily="34" charset="0"/>
                        </a:rPr>
                        <a:t>14.3 RPS (+52%)</a:t>
                      </a:r>
                    </a:p>
                  </a:txBody>
                  <a:tcPr>
                    <a:solidFill>
                      <a:srgbClr val="D8E7CA"/>
                    </a:solidFill>
                  </a:tcPr>
                </a:tc>
                <a:extLst>
                  <a:ext uri="{0D108BD9-81ED-4DB2-BD59-A6C34878D82A}">
                    <a16:rowId xmlns:a16="http://schemas.microsoft.com/office/drawing/2014/main" val="3144043064"/>
                  </a:ext>
                </a:extLst>
              </a:tr>
              <a:tr h="529167">
                <a:tc>
                  <a:txBody>
                    <a:bodyPr/>
                    <a:lstStyle/>
                    <a:p>
                      <a:r>
                        <a:rPr lang="en-IN" sz="950">
                          <a:solidFill>
                            <a:srgbClr val="1A1A1A"/>
                          </a:solidFill>
                          <a:latin typeface="Segoe UI" panose="020B0502040204020203" pitchFamily="34" charset="0"/>
                        </a:rPr>
                        <a:t>Token Generation</a:t>
                      </a:r>
                    </a:p>
                  </a:txBody>
                  <a:tcPr>
                    <a:solidFill>
                      <a:srgbClr val="FFFFFF"/>
                    </a:solidFill>
                  </a:tcPr>
                </a:tc>
                <a:tc>
                  <a:txBody>
                    <a:bodyPr/>
                    <a:lstStyle/>
                    <a:p>
                      <a:r>
                        <a:rPr lang="en-IN" sz="950">
                          <a:solidFill>
                            <a:srgbClr val="1A1A1A"/>
                          </a:solidFill>
                          <a:latin typeface="Segoe UI" panose="020B0502040204020203" pitchFamily="34" charset="0"/>
                        </a:rPr>
                        <a:t>124 Tokens</a:t>
                      </a:r>
                    </a:p>
                  </a:txBody>
                  <a:tcPr>
                    <a:solidFill>
                      <a:srgbClr val="FFFFFF"/>
                    </a:solidFill>
                  </a:tcPr>
                </a:tc>
                <a:tc>
                  <a:txBody>
                    <a:bodyPr/>
                    <a:lstStyle/>
                    <a:p>
                      <a:r>
                        <a:rPr lang="en-IN" sz="950">
                          <a:solidFill>
                            <a:srgbClr val="1A1A1A"/>
                          </a:solidFill>
                          <a:latin typeface="Segoe UI" panose="020B0502040204020203" pitchFamily="34" charset="0"/>
                        </a:rPr>
                        <a:t>62 Tokens (-50%)</a:t>
                      </a:r>
                    </a:p>
                  </a:txBody>
                  <a:tcPr>
                    <a:solidFill>
                      <a:srgbClr val="FFFFFF"/>
                    </a:solidFill>
                  </a:tcPr>
                </a:tc>
                <a:tc>
                  <a:txBody>
                    <a:bodyPr/>
                    <a:lstStyle/>
                    <a:p>
                      <a:r>
                        <a:rPr lang="en-IN" sz="950" b="1">
                          <a:solidFill>
                            <a:srgbClr val="3E4A35"/>
                          </a:solidFill>
                          <a:latin typeface="Segoe UI" panose="020B0502040204020203" pitchFamily="34" charset="0"/>
                        </a:rPr>
                        <a:t>62 Tokens (-50%)</a:t>
                      </a:r>
                    </a:p>
                  </a:txBody>
                  <a:tcPr>
                    <a:solidFill>
                      <a:srgbClr val="D8E7CA"/>
                    </a:solidFill>
                  </a:tcPr>
                </a:tc>
                <a:extLst>
                  <a:ext uri="{0D108BD9-81ED-4DB2-BD59-A6C34878D82A}">
                    <a16:rowId xmlns:a16="http://schemas.microsoft.com/office/drawing/2014/main" val="3137928934"/>
                  </a:ext>
                </a:extLst>
              </a:tr>
            </a:tbl>
          </a:graphicData>
        </a:graphic>
      </p:graphicFrame>
      <p:sp>
        <p:nvSpPr>
          <p:cNvPr id="10" name="Rectangle: Rounded Corners 9">
            <a:extLst>
              <a:ext uri="{FF2B5EF4-FFF2-40B4-BE49-F238E27FC236}">
                <a16:creationId xmlns:a16="http://schemas.microsoft.com/office/drawing/2014/main" id="{90B4223E-C5EA-5F11-E1D5-D9B5AC113F92}"/>
              </a:ext>
            </a:extLst>
          </p:cNvPr>
          <p:cNvSpPr/>
          <p:nvPr/>
        </p:nvSpPr>
        <p:spPr>
          <a:xfrm>
            <a:off x="7493000" y="1587500"/>
            <a:ext cx="4064000" cy="1460500"/>
          </a:xfrm>
          <a:prstGeom prst="roundRect">
            <a:avLst>
              <a:gd name="adj" fmla="val 5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8BCA74BC-19C5-7C61-C9DD-447B494D56D9}"/>
              </a:ext>
            </a:extLst>
          </p:cNvPr>
          <p:cNvSpPr txBox="1"/>
          <p:nvPr/>
        </p:nvSpPr>
        <p:spPr>
          <a:xfrm>
            <a:off x="7683500" y="1714500"/>
            <a:ext cx="3683000" cy="1477328"/>
          </a:xfrm>
          <a:prstGeom prst="rect">
            <a:avLst/>
          </a:prstGeom>
          <a:noFill/>
        </p:spPr>
        <p:txBody>
          <a:bodyPr vert="horz" wrap="square" rtlCol="0">
            <a:spAutoFit/>
          </a:bodyPr>
          <a:lstStyle/>
          <a:p>
            <a:r>
              <a:rPr lang="en-US" sz="1500" b="1">
                <a:solidFill>
                  <a:srgbClr val="7C8A71"/>
                </a:solidFill>
                <a:latin typeface="Segoe UI" panose="020B0502040204020203" pitchFamily="34" charset="0"/>
              </a:rPr>
              <a:t>79.0% Latency Reduction
- Median latency dropped from 392.9ms down to 82.6ms across mixed workloads.
- Individual cache hit requests return in sub-4ms.</a:t>
            </a:r>
            <a:endParaRPr lang="en-IN" sz="1500" b="1">
              <a:solidFill>
                <a:srgbClr val="7C8A71"/>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83C7B0E0-1E67-DB03-C146-65C3396676DF}"/>
              </a:ext>
            </a:extLst>
          </p:cNvPr>
          <p:cNvSpPr/>
          <p:nvPr/>
        </p:nvSpPr>
        <p:spPr>
          <a:xfrm>
            <a:off x="7493000" y="3302000"/>
            <a:ext cx="4064000" cy="1460500"/>
          </a:xfrm>
          <a:prstGeom prst="roundRect">
            <a:avLst>
              <a:gd name="adj" fmla="val 5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24DE6261-FA9B-CC48-C949-DB1CDA9FC553}"/>
              </a:ext>
            </a:extLst>
          </p:cNvPr>
          <p:cNvSpPr txBox="1"/>
          <p:nvPr/>
        </p:nvSpPr>
        <p:spPr>
          <a:xfrm>
            <a:off x="7683500" y="3429000"/>
            <a:ext cx="3683000" cy="1246495"/>
          </a:xfrm>
          <a:prstGeom prst="rect">
            <a:avLst/>
          </a:prstGeom>
          <a:noFill/>
        </p:spPr>
        <p:txBody>
          <a:bodyPr vert="horz" wrap="square" rtlCol="0">
            <a:spAutoFit/>
          </a:bodyPr>
          <a:lstStyle/>
          <a:p>
            <a:r>
              <a:rPr lang="en-US" sz="1500" b="1">
                <a:solidFill>
                  <a:srgbClr val="B36A5E"/>
                </a:solidFill>
                <a:latin typeface="Segoe UI" panose="020B0502040204020203" pitchFamily="34" charset="0"/>
              </a:rPr>
              <a:t>1.52x Throughput Acceleration
- System throughput increased from 9.4 RPS to 14.3 RPS.
- Total token generation expenditure cut in half immediately.</a:t>
            </a:r>
            <a:endParaRPr lang="en-IN" sz="1500" b="1">
              <a:solidFill>
                <a:srgbClr val="B36A5E"/>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F1CA354F-F1D1-37B7-B451-AA722FF06BED}"/>
              </a:ext>
            </a:extLst>
          </p:cNvPr>
          <p:cNvSpPr/>
          <p:nvPr/>
        </p:nvSpPr>
        <p:spPr>
          <a:xfrm>
            <a:off x="635000" y="5016500"/>
            <a:ext cx="10922000" cy="1143000"/>
          </a:xfrm>
          <a:prstGeom prst="roundRect">
            <a:avLst>
              <a:gd name="adj" fmla="val 4000"/>
            </a:avLst>
          </a:prstGeom>
          <a:solidFill>
            <a:srgbClr val="F5F2ED"/>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68523669-4206-C9DC-D61E-CBEA6618227C}"/>
              </a:ext>
            </a:extLst>
          </p:cNvPr>
          <p:cNvSpPr txBox="1"/>
          <p:nvPr/>
        </p:nvSpPr>
        <p:spPr>
          <a:xfrm>
            <a:off x="825500" y="5118100"/>
            <a:ext cx="10541000" cy="577081"/>
          </a:xfrm>
          <a:prstGeom prst="rect">
            <a:avLst/>
          </a:prstGeom>
          <a:noFill/>
        </p:spPr>
        <p:txBody>
          <a:bodyPr vert="horz" wrap="square" rtlCol="0">
            <a:spAutoFit/>
          </a:bodyPr>
          <a:lstStyle/>
          <a:p>
            <a:r>
              <a:rPr lang="en-US" sz="1050" b="1">
                <a:solidFill>
                  <a:srgbClr val="3E4A35"/>
                </a:solidFill>
                <a:latin typeface="Segoe UI" panose="020B0502040204020203" pitchFamily="34" charset="0"/>
              </a:rPr>
              <a:t>KEY OBSERVATION FROM BENCHMARK_RESULTS.JSON:
While Mode 2 (Tier 1 exact match) effectively eliminates computation for identical queries, it misses all paraphrased requests. Mode 3 (Two-Tier Exact + Semantic Cache) successfully intercepts semantic variants, achieving a 79% p50 latency cut and multiplying system capacity.</a:t>
            </a:r>
            <a:endParaRPr lang="en-IN" sz="1050" b="1">
              <a:solidFill>
                <a:srgbClr val="3E4A35"/>
              </a:solidFill>
              <a:latin typeface="Segoe UI" panose="020B0502040204020203" pitchFamily="34" charset="0"/>
            </a:endParaRPr>
          </a:p>
        </p:txBody>
      </p:sp>
    </p:spTree>
    <p:extLst>
      <p:ext uri="{BB962C8B-B14F-4D97-AF65-F5344CB8AC3E}">
        <p14:creationId xmlns:p14="http://schemas.microsoft.com/office/powerpoint/2010/main" val="1684665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559075-41CB-CC8C-8A98-60F20050C663}"/>
              </a:ext>
            </a:extLst>
          </p:cNvPr>
          <p:cNvSpPr/>
          <p:nvPr/>
        </p:nvSpPr>
        <p:spPr>
          <a:xfrm>
            <a:off x="0" y="0"/>
            <a:ext cx="12192000" cy="6858000"/>
          </a:xfrm>
          <a:prstGeom prst="rect">
            <a:avLst/>
          </a:prstGeom>
          <a:solidFill>
            <a:srgbClr val="FCF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C4E0F5FA-D3CE-991C-CEB1-0F863EABE978}"/>
              </a:ext>
            </a:extLst>
          </p:cNvPr>
          <p:cNvSpPr/>
          <p:nvPr/>
        </p:nvSpPr>
        <p:spPr>
          <a:xfrm>
            <a:off x="0" y="0"/>
            <a:ext cx="6096000" cy="50800"/>
          </a:xfrm>
          <a:prstGeom prst="rect">
            <a:avLst/>
          </a:prstGeom>
          <a:solidFill>
            <a:srgbClr val="7C8A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E85C480F-A617-1419-41F2-53F194D6ACF5}"/>
              </a:ext>
            </a:extLst>
          </p:cNvPr>
          <p:cNvSpPr/>
          <p:nvPr/>
        </p:nvSpPr>
        <p:spPr>
          <a:xfrm>
            <a:off x="6096000" y="0"/>
            <a:ext cx="6096000" cy="50800"/>
          </a:xfrm>
          <a:prstGeom prst="rect">
            <a:avLst/>
          </a:prstGeom>
          <a:solidFill>
            <a:srgbClr val="B36A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E6961F4-C596-5C66-197D-43C610AD031A}"/>
              </a:ext>
            </a:extLst>
          </p:cNvPr>
          <p:cNvSpPr txBox="1"/>
          <p:nvPr/>
        </p:nvSpPr>
        <p:spPr>
          <a:xfrm>
            <a:off x="508000" y="6527800"/>
            <a:ext cx="11176000" cy="138499"/>
          </a:xfrm>
          <a:prstGeom prst="rect">
            <a:avLst/>
          </a:prstGeom>
          <a:noFill/>
        </p:spPr>
        <p:txBody>
          <a:bodyPr vert="horz" wrap="square" lIns="0" tIns="0" rIns="0" bIns="0" rtlCol="0">
            <a:spAutoFit/>
          </a:bodyPr>
          <a:lstStyle/>
          <a:p>
            <a:r>
              <a:rPr lang="en-US" sz="900">
                <a:solidFill>
                  <a:srgbClr val="787770"/>
                </a:solidFill>
                <a:latin typeface="Segoe UI" panose="020B0502040204020203" pitchFamily="34" charset="0"/>
              </a:rPr>
              <a:t>Two-Tier LLM Caching and Inference Architecture  |  College Capstone Exam Defense  |  Slide 9 of 12</a:t>
            </a:r>
            <a:endParaRPr lang="en-IN" sz="900">
              <a:solidFill>
                <a:srgbClr val="787770"/>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03EACEFC-8D44-DF75-6296-11D3E0AEFA93}"/>
              </a:ext>
            </a:extLst>
          </p:cNvPr>
          <p:cNvSpPr/>
          <p:nvPr/>
        </p:nvSpPr>
        <p:spPr>
          <a:xfrm>
            <a:off x="508000" y="279400"/>
            <a:ext cx="3632200" cy="279400"/>
          </a:xfrm>
          <a:prstGeom prst="roundRect">
            <a:avLst>
              <a:gd name="adj" fmla="val 50000"/>
            </a:avLst>
          </a:prstGeom>
          <a:solidFill>
            <a:srgbClr val="D8E7C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IN" sz="850" b="1">
                <a:solidFill>
                  <a:srgbClr val="3E4A35"/>
                </a:solidFill>
                <a:latin typeface="Segoe UI" panose="020B0502040204020203" pitchFamily="34" charset="0"/>
              </a:rPr>
              <a:t>ENTERPRISE VALUE AND SUSTAINABILITY</a:t>
            </a:r>
          </a:p>
        </p:txBody>
      </p:sp>
      <p:sp>
        <p:nvSpPr>
          <p:cNvPr id="7" name="TextBox 6">
            <a:extLst>
              <a:ext uri="{FF2B5EF4-FFF2-40B4-BE49-F238E27FC236}">
                <a16:creationId xmlns:a16="http://schemas.microsoft.com/office/drawing/2014/main" id="{CE7741EF-AF48-F54A-282E-12A0EB09D5C9}"/>
              </a:ext>
            </a:extLst>
          </p:cNvPr>
          <p:cNvSpPr txBox="1"/>
          <p:nvPr/>
        </p:nvSpPr>
        <p:spPr>
          <a:xfrm>
            <a:off x="508000" y="609600"/>
            <a:ext cx="11176000" cy="338554"/>
          </a:xfrm>
          <a:prstGeom prst="rect">
            <a:avLst/>
          </a:prstGeom>
          <a:noFill/>
        </p:spPr>
        <p:txBody>
          <a:bodyPr vert="horz" wrap="square" lIns="0" tIns="0" rIns="0" bIns="0" rtlCol="0">
            <a:spAutoFit/>
          </a:bodyPr>
          <a:lstStyle/>
          <a:p>
            <a:r>
              <a:rPr lang="en-IN" sz="2200" b="1">
                <a:solidFill>
                  <a:srgbClr val="1A1A1A"/>
                </a:solidFill>
                <a:latin typeface="Segoe UI" panose="020B0502040204020203" pitchFamily="34" charset="0"/>
              </a:rPr>
              <a:t>Financial ROI, Token Savings &amp; Carbon Footprint</a:t>
            </a:r>
          </a:p>
        </p:txBody>
      </p:sp>
      <p:sp>
        <p:nvSpPr>
          <p:cNvPr id="8" name="TextBox 7">
            <a:extLst>
              <a:ext uri="{FF2B5EF4-FFF2-40B4-BE49-F238E27FC236}">
                <a16:creationId xmlns:a16="http://schemas.microsoft.com/office/drawing/2014/main" id="{E8B2B391-3229-9A1E-54A8-58E1DE1C4E24}"/>
              </a:ext>
            </a:extLst>
          </p:cNvPr>
          <p:cNvSpPr txBox="1"/>
          <p:nvPr/>
        </p:nvSpPr>
        <p:spPr>
          <a:xfrm>
            <a:off x="508000" y="1066800"/>
            <a:ext cx="11176000" cy="169277"/>
          </a:xfrm>
          <a:prstGeom prst="rect">
            <a:avLst/>
          </a:prstGeom>
          <a:noFill/>
        </p:spPr>
        <p:txBody>
          <a:bodyPr vert="horz" wrap="square" lIns="0" tIns="0" rIns="0" bIns="0" rtlCol="0">
            <a:spAutoFit/>
          </a:bodyPr>
          <a:lstStyle/>
          <a:p>
            <a:r>
              <a:rPr lang="en-US" sz="1100">
                <a:solidFill>
                  <a:srgbClr val="5F5E5B"/>
                </a:solidFill>
                <a:latin typeface="Segoe UI" panose="020B0502040204020203" pitchFamily="34" charset="0"/>
              </a:rPr>
              <a:t>Economic Modeling and Green AI Impact via Avoided Upstream Inference</a:t>
            </a:r>
            <a:endParaRPr lang="en-IN" sz="1100">
              <a:solidFill>
                <a:srgbClr val="5F5E5B"/>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CBF0A528-4076-05B8-3159-9C0A6C54CB76}"/>
              </a:ext>
            </a:extLst>
          </p:cNvPr>
          <p:cNvSpPr/>
          <p:nvPr/>
        </p:nvSpPr>
        <p:spPr>
          <a:xfrm>
            <a:off x="635000" y="1587500"/>
            <a:ext cx="5334000" cy="2222500"/>
          </a:xfrm>
          <a:prstGeom prst="roundRect">
            <a:avLst>
              <a:gd name="adj" fmla="val 5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54791458-C241-8AE5-96A5-FF4C41414088}"/>
              </a:ext>
            </a:extLst>
          </p:cNvPr>
          <p:cNvSpPr txBox="1"/>
          <p:nvPr/>
        </p:nvSpPr>
        <p:spPr>
          <a:xfrm>
            <a:off x="863600" y="1778000"/>
            <a:ext cx="4876800" cy="1892826"/>
          </a:xfrm>
          <a:prstGeom prst="rect">
            <a:avLst/>
          </a:prstGeom>
          <a:noFill/>
        </p:spPr>
        <p:txBody>
          <a:bodyPr vert="horz" wrap="square" rtlCol="0">
            <a:spAutoFit/>
          </a:bodyPr>
          <a:lstStyle/>
          <a:p>
            <a:r>
              <a:rPr lang="en-IN" sz="1300" b="1">
                <a:solidFill>
                  <a:srgbClr val="3E4A35"/>
                </a:solidFill>
                <a:latin typeface="Segoe UI" panose="020B0502040204020203" pitchFamily="34" charset="0"/>
              </a:rPr>
              <a:t>Capital Expenditure Avoidance
Saved = (sum(Prompt_Tokens + Gen_Tokens) / 1,000,000) * Provider_Rate
- Built-in multi-provider pricing engine:
  - Groq Qwen 2.5 27B: USD 0.80 per 1M tokens
  - OpenAI GPT-4o: USD 5.00 per 1M tokens
  - Anthropic Claude 3.5: USD 3.00 per 1M tokens</a:t>
            </a:r>
          </a:p>
        </p:txBody>
      </p:sp>
      <p:sp>
        <p:nvSpPr>
          <p:cNvPr id="11" name="Rectangle: Rounded Corners 10">
            <a:extLst>
              <a:ext uri="{FF2B5EF4-FFF2-40B4-BE49-F238E27FC236}">
                <a16:creationId xmlns:a16="http://schemas.microsoft.com/office/drawing/2014/main" id="{59245262-620F-4A21-657F-688B229C58CB}"/>
              </a:ext>
            </a:extLst>
          </p:cNvPr>
          <p:cNvSpPr/>
          <p:nvPr/>
        </p:nvSpPr>
        <p:spPr>
          <a:xfrm>
            <a:off x="6223000" y="1587500"/>
            <a:ext cx="5334000" cy="2222500"/>
          </a:xfrm>
          <a:prstGeom prst="roundRect">
            <a:avLst>
              <a:gd name="adj" fmla="val 5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547E74C6-FAB0-C6B1-36EB-75AF9B5778C1}"/>
              </a:ext>
            </a:extLst>
          </p:cNvPr>
          <p:cNvSpPr txBox="1"/>
          <p:nvPr/>
        </p:nvSpPr>
        <p:spPr>
          <a:xfrm>
            <a:off x="6451600" y="1778000"/>
            <a:ext cx="4876800" cy="1892826"/>
          </a:xfrm>
          <a:prstGeom prst="rect">
            <a:avLst/>
          </a:prstGeom>
          <a:noFill/>
        </p:spPr>
        <p:txBody>
          <a:bodyPr vert="horz" wrap="square" rtlCol="0">
            <a:spAutoFit/>
          </a:bodyPr>
          <a:lstStyle/>
          <a:p>
            <a:r>
              <a:rPr lang="en-US" sz="1300" b="1" dirty="0">
                <a:solidFill>
                  <a:srgbClr val="71352B"/>
                </a:solidFill>
                <a:latin typeface="Segoe UI" panose="020B0502040204020203" pitchFamily="34" charset="0"/>
              </a:rPr>
              <a:t>Token Consumption Avoidance
- Direct bypass of LLM generative inference on hits.
- Prevents remote rate-limit throttling (HTTP 429 Too Many Requests).
- Protects applications during upstream cloud provider outages
- Enables deterministic knowledge serving for critical answers.</a:t>
            </a:r>
            <a:endParaRPr lang="en-IN" sz="1300" b="1" dirty="0">
              <a:solidFill>
                <a:srgbClr val="71352B"/>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9753946B-3B9B-16DB-57AF-A9A73D0315AF}"/>
              </a:ext>
            </a:extLst>
          </p:cNvPr>
          <p:cNvSpPr/>
          <p:nvPr/>
        </p:nvSpPr>
        <p:spPr>
          <a:xfrm>
            <a:off x="635000" y="4000500"/>
            <a:ext cx="5334000" cy="2222500"/>
          </a:xfrm>
          <a:prstGeom prst="roundRect">
            <a:avLst>
              <a:gd name="adj" fmla="val 5000"/>
            </a:avLst>
          </a:prstGeom>
          <a:solidFill>
            <a:srgbClr val="F5F2ED"/>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0DF2E248-866C-FD09-D726-04721B508489}"/>
              </a:ext>
            </a:extLst>
          </p:cNvPr>
          <p:cNvSpPr txBox="1"/>
          <p:nvPr/>
        </p:nvSpPr>
        <p:spPr>
          <a:xfrm>
            <a:off x="863600" y="4191000"/>
            <a:ext cx="4876800" cy="1892826"/>
          </a:xfrm>
          <a:prstGeom prst="rect">
            <a:avLst/>
          </a:prstGeom>
          <a:noFill/>
        </p:spPr>
        <p:txBody>
          <a:bodyPr vert="horz" wrap="square" rtlCol="0">
            <a:spAutoFit/>
          </a:bodyPr>
          <a:lstStyle/>
          <a:p>
            <a:r>
              <a:rPr lang="en-IN" sz="1300" b="1">
                <a:solidFill>
                  <a:srgbClr val="3E4A35"/>
                </a:solidFill>
                <a:latin typeface="Segoe UI" panose="020B0502040204020203" pitchFamily="34" charset="0"/>
              </a:rPr>
              <a:t>Environmental Sustainability (Green AI)
- Estimated ~0.12g CO2e avoided per 1,000 avoided tokens.
- Data center GPU clusters consume substantial wattage during decoding.
- At 10 Million monthly requests (40% cache hit rate):
  Avoids over 60 kg of CO2e and hundreds of kWh annually!</a:t>
            </a:r>
          </a:p>
        </p:txBody>
      </p:sp>
      <p:sp>
        <p:nvSpPr>
          <p:cNvPr id="15" name="Rectangle: Rounded Corners 14">
            <a:extLst>
              <a:ext uri="{FF2B5EF4-FFF2-40B4-BE49-F238E27FC236}">
                <a16:creationId xmlns:a16="http://schemas.microsoft.com/office/drawing/2014/main" id="{679D1987-8435-F6A3-08A3-4211851AB106}"/>
              </a:ext>
            </a:extLst>
          </p:cNvPr>
          <p:cNvSpPr/>
          <p:nvPr/>
        </p:nvSpPr>
        <p:spPr>
          <a:xfrm>
            <a:off x="6223000" y="4000500"/>
            <a:ext cx="5334000" cy="2222500"/>
          </a:xfrm>
          <a:prstGeom prst="roundRect">
            <a:avLst>
              <a:gd name="adj" fmla="val 5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47F035AC-16B1-C7D5-ACF0-A8B20066F67F}"/>
              </a:ext>
            </a:extLst>
          </p:cNvPr>
          <p:cNvSpPr txBox="1"/>
          <p:nvPr/>
        </p:nvSpPr>
        <p:spPr>
          <a:xfrm>
            <a:off x="6451600" y="4191000"/>
            <a:ext cx="4876800" cy="2092881"/>
          </a:xfrm>
          <a:prstGeom prst="rect">
            <a:avLst/>
          </a:prstGeom>
          <a:noFill/>
        </p:spPr>
        <p:txBody>
          <a:bodyPr vert="horz" wrap="square" rtlCol="0">
            <a:spAutoFit/>
          </a:bodyPr>
          <a:lstStyle/>
          <a:p>
            <a:r>
              <a:rPr lang="en-IN" sz="1300" b="1">
                <a:solidFill>
                  <a:srgbClr val="1A1A1A"/>
                </a:solidFill>
                <a:latin typeface="Segoe UI" panose="020B0502040204020203" pitchFamily="34" charset="0"/>
              </a:rPr>
              <a:t>Zero Wait Time SLA for End Users
- Instant sub-millisecond retrieval eliminates user churn.
- 0.0 ms GPU/LPU compute wait time.
- Transparent match badges inform users whether output is fresh or cached.
- Enterprise-grade audit trail in telemetry_metrics.jsonl.</a:t>
            </a:r>
          </a:p>
        </p:txBody>
      </p:sp>
    </p:spTree>
    <p:extLst>
      <p:ext uri="{BB962C8B-B14F-4D97-AF65-F5344CB8AC3E}">
        <p14:creationId xmlns:p14="http://schemas.microsoft.com/office/powerpoint/2010/main" val="1454989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D7659AF-71ED-28CF-D8DB-7E5D2CD6EB74}"/>
              </a:ext>
            </a:extLst>
          </p:cNvPr>
          <p:cNvSpPr/>
          <p:nvPr/>
        </p:nvSpPr>
        <p:spPr>
          <a:xfrm>
            <a:off x="0" y="0"/>
            <a:ext cx="12192000" cy="6858000"/>
          </a:xfrm>
          <a:prstGeom prst="rect">
            <a:avLst/>
          </a:prstGeom>
          <a:solidFill>
            <a:srgbClr val="FCF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5AEF67D3-F88D-BBC8-90E1-E2AFFA490DF7}"/>
              </a:ext>
            </a:extLst>
          </p:cNvPr>
          <p:cNvSpPr/>
          <p:nvPr/>
        </p:nvSpPr>
        <p:spPr>
          <a:xfrm>
            <a:off x="0" y="0"/>
            <a:ext cx="6096000" cy="50800"/>
          </a:xfrm>
          <a:prstGeom prst="rect">
            <a:avLst/>
          </a:prstGeom>
          <a:solidFill>
            <a:srgbClr val="7C8A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071DF8C9-7B49-33D5-F435-E38046627521}"/>
              </a:ext>
            </a:extLst>
          </p:cNvPr>
          <p:cNvSpPr/>
          <p:nvPr/>
        </p:nvSpPr>
        <p:spPr>
          <a:xfrm>
            <a:off x="6096000" y="0"/>
            <a:ext cx="6096000" cy="50800"/>
          </a:xfrm>
          <a:prstGeom prst="rect">
            <a:avLst/>
          </a:prstGeom>
          <a:solidFill>
            <a:srgbClr val="B36A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E1BC9DE3-0651-D682-3A5B-6C102C99234B}"/>
              </a:ext>
            </a:extLst>
          </p:cNvPr>
          <p:cNvSpPr txBox="1"/>
          <p:nvPr/>
        </p:nvSpPr>
        <p:spPr>
          <a:xfrm>
            <a:off x="508000" y="6527800"/>
            <a:ext cx="11176000" cy="138499"/>
          </a:xfrm>
          <a:prstGeom prst="rect">
            <a:avLst/>
          </a:prstGeom>
          <a:noFill/>
        </p:spPr>
        <p:txBody>
          <a:bodyPr vert="horz" wrap="square" lIns="0" tIns="0" rIns="0" bIns="0" rtlCol="0">
            <a:spAutoFit/>
          </a:bodyPr>
          <a:lstStyle/>
          <a:p>
            <a:r>
              <a:rPr lang="en-US" sz="900">
                <a:solidFill>
                  <a:srgbClr val="787770"/>
                </a:solidFill>
                <a:latin typeface="Segoe UI" panose="020B0502040204020203" pitchFamily="34" charset="0"/>
              </a:rPr>
              <a:t>Two-Tier LLM Caching and Inference Architecture  |  College Capstone Exam Defense  |  Slide 10 of 12</a:t>
            </a:r>
            <a:endParaRPr lang="en-IN" sz="900">
              <a:solidFill>
                <a:srgbClr val="787770"/>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F24982D7-3F2F-FF0F-8E28-589F47BCA8D1}"/>
              </a:ext>
            </a:extLst>
          </p:cNvPr>
          <p:cNvSpPr/>
          <p:nvPr/>
        </p:nvSpPr>
        <p:spPr>
          <a:xfrm>
            <a:off x="508000" y="279400"/>
            <a:ext cx="4495800" cy="279400"/>
          </a:xfrm>
          <a:prstGeom prst="roundRect">
            <a:avLst>
              <a:gd name="adj" fmla="val 50000"/>
            </a:avLst>
          </a:prstGeom>
          <a:solidFill>
            <a:srgbClr val="F5F2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US" sz="850" b="1">
                <a:solidFill>
                  <a:srgbClr val="1A1A1A"/>
                </a:solidFill>
                <a:latin typeface="Segoe UI" panose="020B0502040204020203" pitchFamily="34" charset="0"/>
              </a:rPr>
              <a:t>WEB INTERFACE AND OBSERVABILITY (INDEX.HTML)</a:t>
            </a:r>
            <a:endParaRPr lang="en-IN" sz="850" b="1">
              <a:solidFill>
                <a:srgbClr val="1A1A1A"/>
              </a:solidFill>
              <a:latin typeface="Segoe UI" panose="020B0502040204020203" pitchFamily="34" charset="0"/>
            </a:endParaRPr>
          </a:p>
        </p:txBody>
      </p:sp>
      <p:sp>
        <p:nvSpPr>
          <p:cNvPr id="7" name="TextBox 6">
            <a:extLst>
              <a:ext uri="{FF2B5EF4-FFF2-40B4-BE49-F238E27FC236}">
                <a16:creationId xmlns:a16="http://schemas.microsoft.com/office/drawing/2014/main" id="{A9B2BD3B-C2BD-3274-1E31-498461F871A6}"/>
              </a:ext>
            </a:extLst>
          </p:cNvPr>
          <p:cNvSpPr txBox="1"/>
          <p:nvPr/>
        </p:nvSpPr>
        <p:spPr>
          <a:xfrm>
            <a:off x="508000" y="609600"/>
            <a:ext cx="11176000" cy="338554"/>
          </a:xfrm>
          <a:prstGeom prst="rect">
            <a:avLst/>
          </a:prstGeom>
          <a:noFill/>
        </p:spPr>
        <p:txBody>
          <a:bodyPr vert="horz" wrap="square" lIns="0" tIns="0" rIns="0" bIns="0" rtlCol="0">
            <a:spAutoFit/>
          </a:bodyPr>
          <a:lstStyle/>
          <a:p>
            <a:r>
              <a:rPr lang="en-US" sz="2200" b="1">
                <a:solidFill>
                  <a:srgbClr val="1A1A1A"/>
                </a:solidFill>
                <a:latin typeface="Segoe UI" panose="020B0502040204020203" pitchFamily="34" charset="0"/>
              </a:rPr>
              <a:t>Production Web Interface &amp; Telemetry Dashboard</a:t>
            </a:r>
            <a:endParaRPr lang="en-IN" sz="2200" b="1">
              <a:solidFill>
                <a:srgbClr val="1A1A1A"/>
              </a:solidFill>
              <a:latin typeface="Segoe UI" panose="020B0502040204020203" pitchFamily="34" charset="0"/>
            </a:endParaRPr>
          </a:p>
        </p:txBody>
      </p:sp>
      <p:sp>
        <p:nvSpPr>
          <p:cNvPr id="8" name="TextBox 7">
            <a:extLst>
              <a:ext uri="{FF2B5EF4-FFF2-40B4-BE49-F238E27FC236}">
                <a16:creationId xmlns:a16="http://schemas.microsoft.com/office/drawing/2014/main" id="{DD10E2D5-72F9-F9C4-3858-5DD3526C43F0}"/>
              </a:ext>
            </a:extLst>
          </p:cNvPr>
          <p:cNvSpPr txBox="1"/>
          <p:nvPr/>
        </p:nvSpPr>
        <p:spPr>
          <a:xfrm>
            <a:off x="508000" y="1066800"/>
            <a:ext cx="11176000" cy="169277"/>
          </a:xfrm>
          <a:prstGeom prst="rect">
            <a:avLst/>
          </a:prstGeom>
          <a:noFill/>
        </p:spPr>
        <p:txBody>
          <a:bodyPr vert="horz" wrap="square" lIns="0" tIns="0" rIns="0" bIns="0" rtlCol="0">
            <a:spAutoFit/>
          </a:bodyPr>
          <a:lstStyle/>
          <a:p>
            <a:r>
              <a:rPr lang="en-US" sz="1100">
                <a:solidFill>
                  <a:srgbClr val="5F5E5B"/>
                </a:solidFill>
                <a:latin typeface="Segoe UI" panose="020B0502040204020203" pitchFamily="34" charset="0"/>
              </a:rPr>
              <a:t>Single-Page Application Crafted with Tailwind CSS, Geist Sans, and Real-Time Controls</a:t>
            </a:r>
            <a:endParaRPr lang="en-IN" sz="1100">
              <a:solidFill>
                <a:srgbClr val="5F5E5B"/>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7AD6D571-D663-6943-C29F-9D650AD497FD}"/>
              </a:ext>
            </a:extLst>
          </p:cNvPr>
          <p:cNvSpPr/>
          <p:nvPr/>
        </p:nvSpPr>
        <p:spPr>
          <a:xfrm>
            <a:off x="635000" y="1587500"/>
            <a:ext cx="5334000" cy="2222500"/>
          </a:xfrm>
          <a:prstGeom prst="roundRect">
            <a:avLst>
              <a:gd name="adj" fmla="val 5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BF39C887-1915-6742-50CF-A1F666436048}"/>
              </a:ext>
            </a:extLst>
          </p:cNvPr>
          <p:cNvSpPr txBox="1"/>
          <p:nvPr/>
        </p:nvSpPr>
        <p:spPr>
          <a:xfrm>
            <a:off x="863600" y="1778000"/>
            <a:ext cx="4876800" cy="1292662"/>
          </a:xfrm>
          <a:prstGeom prst="rect">
            <a:avLst/>
          </a:prstGeom>
          <a:noFill/>
        </p:spPr>
        <p:txBody>
          <a:bodyPr vert="horz" wrap="square" rtlCol="0">
            <a:spAutoFit/>
          </a:bodyPr>
          <a:lstStyle/>
          <a:p>
            <a:r>
              <a:rPr lang="en-US" sz="1300" b="1">
                <a:solidFill>
                  <a:srgbClr val="3E4A35"/>
                </a:solidFill>
                <a:latin typeface="Segoe UI" panose="020B0502040204020203" pitchFamily="34" charset="0"/>
              </a:rPr>
              <a:t>Interactive Playground View
- Prompt composer with instant paraphrase test chips.
- Live Max Tokens slider (1 - 100).
- Real-time Cosine Similarity Threshold slider (0.70 - 0.99).
- Instant toggles for Tier 1 and Tier 2 caching engines.</a:t>
            </a:r>
            <a:endParaRPr lang="en-IN" sz="1300" b="1">
              <a:solidFill>
                <a:srgbClr val="3E4A35"/>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ABFAA26E-D010-2246-658C-4AD31C4CB350}"/>
              </a:ext>
            </a:extLst>
          </p:cNvPr>
          <p:cNvSpPr/>
          <p:nvPr/>
        </p:nvSpPr>
        <p:spPr>
          <a:xfrm>
            <a:off x="6223000" y="1587500"/>
            <a:ext cx="5334000" cy="2222500"/>
          </a:xfrm>
          <a:prstGeom prst="roundRect">
            <a:avLst>
              <a:gd name="adj" fmla="val 5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E9BDE012-45D4-70E6-FF75-AF324E2C2B2C}"/>
              </a:ext>
            </a:extLst>
          </p:cNvPr>
          <p:cNvSpPr txBox="1"/>
          <p:nvPr/>
        </p:nvSpPr>
        <p:spPr>
          <a:xfrm>
            <a:off x="6451600" y="1778000"/>
            <a:ext cx="4876800" cy="1892826"/>
          </a:xfrm>
          <a:prstGeom prst="rect">
            <a:avLst/>
          </a:prstGeom>
          <a:noFill/>
        </p:spPr>
        <p:txBody>
          <a:bodyPr vert="horz" wrap="square" rtlCol="0">
            <a:spAutoFit/>
          </a:bodyPr>
          <a:lstStyle/>
          <a:p>
            <a:r>
              <a:rPr lang="en-IN" sz="1300" b="1">
                <a:solidFill>
                  <a:srgbClr val="71352B"/>
                </a:solidFill>
                <a:latin typeface="Segoe UI" panose="020B0502040204020203" pitchFamily="34" charset="0"/>
              </a:rPr>
              <a:t>Transparency Match Banners
- Sage Badge: Tier 1 Exact Match (1.00 Sim, 0.0ms compute).
- Terracotta Badge: Tier 2 Semantic Match (displays exact cosine score and matched cached prompt).
- Amber Badge: Cache Miss (indicates remote Groq API inference).
- HUD Bar: Total Latency, Model Compute, Queue Time.</a:t>
            </a:r>
          </a:p>
        </p:txBody>
      </p:sp>
      <p:sp>
        <p:nvSpPr>
          <p:cNvPr id="13" name="Rectangle: Rounded Corners 12">
            <a:extLst>
              <a:ext uri="{FF2B5EF4-FFF2-40B4-BE49-F238E27FC236}">
                <a16:creationId xmlns:a16="http://schemas.microsoft.com/office/drawing/2014/main" id="{8D75680C-E3F5-81E7-E60C-3147BA1226B5}"/>
              </a:ext>
            </a:extLst>
          </p:cNvPr>
          <p:cNvSpPr/>
          <p:nvPr/>
        </p:nvSpPr>
        <p:spPr>
          <a:xfrm>
            <a:off x="635000" y="4000500"/>
            <a:ext cx="5334000" cy="2222500"/>
          </a:xfrm>
          <a:prstGeom prst="roundRect">
            <a:avLst>
              <a:gd name="adj" fmla="val 5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AE76785F-73B8-1574-D873-B0A39C05DCC8}"/>
              </a:ext>
            </a:extLst>
          </p:cNvPr>
          <p:cNvSpPr txBox="1"/>
          <p:nvPr/>
        </p:nvSpPr>
        <p:spPr>
          <a:xfrm>
            <a:off x="863600" y="4191000"/>
            <a:ext cx="4876800" cy="1692771"/>
          </a:xfrm>
          <a:prstGeom prst="rect">
            <a:avLst/>
          </a:prstGeom>
          <a:noFill/>
        </p:spPr>
        <p:txBody>
          <a:bodyPr vert="horz" wrap="square" rtlCol="0">
            <a:spAutoFit/>
          </a:bodyPr>
          <a:lstStyle/>
          <a:p>
            <a:r>
              <a:rPr lang="en-IN" sz="1300" b="1">
                <a:solidFill>
                  <a:srgbClr val="1A1A1A"/>
                </a:solidFill>
                <a:latin typeface="Segoe UI" panose="020B0502040204020203" pitchFamily="34" charset="0"/>
              </a:rPr>
              <a:t>Cache Inspector &amp; Management
- Live Cache Entries table displaying cached text, token budget, and age in seconds.
- Individual prompt eviction buttons &amp; 'Clear Entire Cache' control.
- Cache capacity meter and active runtime model status.
- Pre-warm Golden FAQ button (8 authoritative Q&amp;As).</a:t>
            </a:r>
          </a:p>
        </p:txBody>
      </p:sp>
      <p:sp>
        <p:nvSpPr>
          <p:cNvPr id="15" name="Rectangle: Rounded Corners 14">
            <a:extLst>
              <a:ext uri="{FF2B5EF4-FFF2-40B4-BE49-F238E27FC236}">
                <a16:creationId xmlns:a16="http://schemas.microsoft.com/office/drawing/2014/main" id="{514E388A-5386-C208-1792-B3A1A03216BF}"/>
              </a:ext>
            </a:extLst>
          </p:cNvPr>
          <p:cNvSpPr/>
          <p:nvPr/>
        </p:nvSpPr>
        <p:spPr>
          <a:xfrm>
            <a:off x="6223000" y="4000500"/>
            <a:ext cx="5334000" cy="2222500"/>
          </a:xfrm>
          <a:prstGeom prst="roundRect">
            <a:avLst>
              <a:gd name="adj" fmla="val 5000"/>
            </a:avLst>
          </a:prstGeom>
          <a:solidFill>
            <a:srgbClr val="F5F2ED"/>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C42359EB-4149-D9F6-7F8A-119AC0F06D9A}"/>
              </a:ext>
            </a:extLst>
          </p:cNvPr>
          <p:cNvSpPr txBox="1"/>
          <p:nvPr/>
        </p:nvSpPr>
        <p:spPr>
          <a:xfrm>
            <a:off x="6451600" y="4191000"/>
            <a:ext cx="4876800" cy="1692771"/>
          </a:xfrm>
          <a:prstGeom prst="rect">
            <a:avLst/>
          </a:prstGeom>
          <a:noFill/>
        </p:spPr>
        <p:txBody>
          <a:bodyPr vert="horz" wrap="square" rtlCol="0">
            <a:spAutoFit/>
          </a:bodyPr>
          <a:lstStyle/>
          <a:p>
            <a:r>
              <a:rPr lang="en-IN" sz="1300" b="1">
                <a:solidFill>
                  <a:srgbClr val="3E4A35"/>
                </a:solidFill>
                <a:latin typeface="Segoe UI" panose="020B0502040204020203" pitchFamily="34" charset="0"/>
              </a:rPr>
              <a:t>Vector Inspector &amp; Request Modal
- Vector Inspector: Computes real-time k-NN neighbor search for any input prompt against all cached embeddings.
- Request Drill-Down Modal: Click any req-XXXXXXXX record to view full audit logs, latency breakdown, JSON telemetry, and cURL commands.
- Copy Prompt &amp; Output shortcuts.</a:t>
            </a:r>
          </a:p>
        </p:txBody>
      </p:sp>
    </p:spTree>
    <p:extLst>
      <p:ext uri="{BB962C8B-B14F-4D97-AF65-F5344CB8AC3E}">
        <p14:creationId xmlns:p14="http://schemas.microsoft.com/office/powerpoint/2010/main" val="1227851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33AD0A-1E96-A466-63B9-6C82EC7D9915}"/>
              </a:ext>
            </a:extLst>
          </p:cNvPr>
          <p:cNvSpPr/>
          <p:nvPr/>
        </p:nvSpPr>
        <p:spPr>
          <a:xfrm>
            <a:off x="0" y="0"/>
            <a:ext cx="12192000" cy="6858000"/>
          </a:xfrm>
          <a:prstGeom prst="rect">
            <a:avLst/>
          </a:prstGeom>
          <a:solidFill>
            <a:srgbClr val="FCF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45FC07D5-8927-5380-E8C1-B80232D287F2}"/>
              </a:ext>
            </a:extLst>
          </p:cNvPr>
          <p:cNvSpPr/>
          <p:nvPr/>
        </p:nvSpPr>
        <p:spPr>
          <a:xfrm>
            <a:off x="0" y="0"/>
            <a:ext cx="6096000" cy="50800"/>
          </a:xfrm>
          <a:prstGeom prst="rect">
            <a:avLst/>
          </a:prstGeom>
          <a:solidFill>
            <a:srgbClr val="7C8A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274A6004-E691-CFBB-9F1B-7681D96CE2ED}"/>
              </a:ext>
            </a:extLst>
          </p:cNvPr>
          <p:cNvSpPr/>
          <p:nvPr/>
        </p:nvSpPr>
        <p:spPr>
          <a:xfrm>
            <a:off x="6096000" y="0"/>
            <a:ext cx="6096000" cy="50800"/>
          </a:xfrm>
          <a:prstGeom prst="rect">
            <a:avLst/>
          </a:prstGeom>
          <a:solidFill>
            <a:srgbClr val="B36A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527E142-10BB-FF82-4DB7-D7F72184A798}"/>
              </a:ext>
            </a:extLst>
          </p:cNvPr>
          <p:cNvSpPr txBox="1"/>
          <p:nvPr/>
        </p:nvSpPr>
        <p:spPr>
          <a:xfrm>
            <a:off x="508000" y="6527800"/>
            <a:ext cx="11176000" cy="138499"/>
          </a:xfrm>
          <a:prstGeom prst="rect">
            <a:avLst/>
          </a:prstGeom>
          <a:noFill/>
        </p:spPr>
        <p:txBody>
          <a:bodyPr vert="horz" wrap="square" lIns="0" tIns="0" rIns="0" bIns="0" rtlCol="0">
            <a:spAutoFit/>
          </a:bodyPr>
          <a:lstStyle/>
          <a:p>
            <a:r>
              <a:rPr lang="en-US" sz="900">
                <a:solidFill>
                  <a:srgbClr val="787770"/>
                </a:solidFill>
                <a:latin typeface="Segoe UI" panose="020B0502040204020203" pitchFamily="34" charset="0"/>
              </a:rPr>
              <a:t>Two-Tier LLM Caching and Inference Architecture  |  College Capstone Exam Defense  |  Slide 11 of 12</a:t>
            </a:r>
            <a:endParaRPr lang="en-IN" sz="900">
              <a:solidFill>
                <a:srgbClr val="787770"/>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37F8128A-6642-D563-B8A8-90D2E1D81BA6}"/>
              </a:ext>
            </a:extLst>
          </p:cNvPr>
          <p:cNvSpPr/>
          <p:nvPr/>
        </p:nvSpPr>
        <p:spPr>
          <a:xfrm>
            <a:off x="508000" y="279400"/>
            <a:ext cx="4394200" cy="279400"/>
          </a:xfrm>
          <a:prstGeom prst="roundRect">
            <a:avLst>
              <a:gd name="adj" fmla="val 50000"/>
            </a:avLst>
          </a:prstGeom>
          <a:solidFill>
            <a:srgbClr val="D8E7C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US" sz="850" b="1">
                <a:solidFill>
                  <a:srgbClr val="3E4A35"/>
                </a:solidFill>
                <a:latin typeface="Segoe UI" panose="020B0502040204020203" pitchFamily="34" charset="0"/>
              </a:rPr>
              <a:t>ROBUST VERIFICATION AND INTEGRATION TESTING</a:t>
            </a:r>
            <a:endParaRPr lang="en-IN" sz="850" b="1">
              <a:solidFill>
                <a:srgbClr val="3E4A35"/>
              </a:solidFill>
              <a:latin typeface="Segoe UI" panose="020B0502040204020203" pitchFamily="34" charset="0"/>
            </a:endParaRPr>
          </a:p>
        </p:txBody>
      </p:sp>
      <p:sp>
        <p:nvSpPr>
          <p:cNvPr id="7" name="TextBox 6">
            <a:extLst>
              <a:ext uri="{FF2B5EF4-FFF2-40B4-BE49-F238E27FC236}">
                <a16:creationId xmlns:a16="http://schemas.microsoft.com/office/drawing/2014/main" id="{A00A5E02-ED5B-198E-7497-0DA9989756B4}"/>
              </a:ext>
            </a:extLst>
          </p:cNvPr>
          <p:cNvSpPr txBox="1"/>
          <p:nvPr/>
        </p:nvSpPr>
        <p:spPr>
          <a:xfrm>
            <a:off x="508000" y="609600"/>
            <a:ext cx="11176000" cy="338554"/>
          </a:xfrm>
          <a:prstGeom prst="rect">
            <a:avLst/>
          </a:prstGeom>
          <a:noFill/>
        </p:spPr>
        <p:txBody>
          <a:bodyPr vert="horz" wrap="square" lIns="0" tIns="0" rIns="0" bIns="0" rtlCol="0">
            <a:spAutoFit/>
          </a:bodyPr>
          <a:lstStyle/>
          <a:p>
            <a:r>
              <a:rPr lang="en-IN" sz="2200" b="1">
                <a:solidFill>
                  <a:srgbClr val="1A1A1A"/>
                </a:solidFill>
                <a:latin typeface="Segoe UI" panose="020B0502040204020203" pitchFamily="34" charset="0"/>
              </a:rPr>
              <a:t>Verification Suite &amp; Codebase Structure</a:t>
            </a:r>
          </a:p>
        </p:txBody>
      </p:sp>
      <p:sp>
        <p:nvSpPr>
          <p:cNvPr id="8" name="TextBox 7">
            <a:extLst>
              <a:ext uri="{FF2B5EF4-FFF2-40B4-BE49-F238E27FC236}">
                <a16:creationId xmlns:a16="http://schemas.microsoft.com/office/drawing/2014/main" id="{115156E7-D23D-9E6E-121E-FAB7B435E6E6}"/>
              </a:ext>
            </a:extLst>
          </p:cNvPr>
          <p:cNvSpPr txBox="1"/>
          <p:nvPr/>
        </p:nvSpPr>
        <p:spPr>
          <a:xfrm>
            <a:off x="508000" y="1066800"/>
            <a:ext cx="11176000" cy="169277"/>
          </a:xfrm>
          <a:prstGeom prst="rect">
            <a:avLst/>
          </a:prstGeom>
          <a:noFill/>
        </p:spPr>
        <p:txBody>
          <a:bodyPr vert="horz" wrap="square" lIns="0" tIns="0" rIns="0" bIns="0" rtlCol="0">
            <a:spAutoFit/>
          </a:bodyPr>
          <a:lstStyle/>
          <a:p>
            <a:r>
              <a:rPr lang="en-US" sz="1100">
                <a:solidFill>
                  <a:srgbClr val="5F5E5B"/>
                </a:solidFill>
                <a:latin typeface="Segoe UI" panose="020B0502040204020203" pitchFamily="34" charset="0"/>
              </a:rPr>
              <a:t>Automated End-to-End Test Suite (test.py) and Complete File Directory</a:t>
            </a:r>
            <a:endParaRPr lang="en-IN" sz="1100">
              <a:solidFill>
                <a:srgbClr val="5F5E5B"/>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B08495F7-E23E-D984-3869-26D43F482E99}"/>
              </a:ext>
            </a:extLst>
          </p:cNvPr>
          <p:cNvSpPr/>
          <p:nvPr/>
        </p:nvSpPr>
        <p:spPr>
          <a:xfrm>
            <a:off x="635000" y="1587500"/>
            <a:ext cx="5334000" cy="4699000"/>
          </a:xfrm>
          <a:prstGeom prst="roundRect">
            <a:avLst>
              <a:gd name="adj" fmla="val 5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34586F0F-345A-438C-853B-9B5D93CD33A5}"/>
              </a:ext>
            </a:extLst>
          </p:cNvPr>
          <p:cNvSpPr txBox="1"/>
          <p:nvPr/>
        </p:nvSpPr>
        <p:spPr>
          <a:xfrm>
            <a:off x="863600" y="1778000"/>
            <a:ext cx="4876800" cy="3093154"/>
          </a:xfrm>
          <a:prstGeom prst="rect">
            <a:avLst/>
          </a:prstGeom>
          <a:noFill/>
        </p:spPr>
        <p:txBody>
          <a:bodyPr vert="horz" wrap="square" rtlCol="0">
            <a:spAutoFit/>
          </a:bodyPr>
          <a:lstStyle/>
          <a:p>
            <a:r>
              <a:rPr lang="en-IN" sz="1300" b="1">
                <a:solidFill>
                  <a:srgbClr val="3E4A35"/>
                </a:solidFill>
                <a:latin typeface="Segoe UI" panose="020B0502040204020203" pitchFamily="34" charset="0"/>
              </a:rPr>
              <a:t>9 Automated Integration Tests (test.py)
1. Health Check: Validates /api/status runtime metadata.
2. Cold Start Miss: Confirms Groq round-trip on empty cache.
3. Tier 1 Exact Hit: Confirms match_type='exact' &amp; 0.0ms compute.
4. Tier 2 Semantic Hit: Verifies cosine similarity &gt;= 0.90.
5. Distractor Rejection: Confirms rejection of distinct questions.
6. TTL Auto-Eviction: Tests lazy eviction of expired entries.
7. Targeted Eviction: Tests /clear_cache?prompt=... deletion.
8. Full Cache Wipe: Confirms cache purge reset.
9. Telemetry Persistence: Audits telemetry_metrics.jsonl schema.</a:t>
            </a:r>
          </a:p>
        </p:txBody>
      </p:sp>
      <p:sp>
        <p:nvSpPr>
          <p:cNvPr id="11" name="Rectangle: Rounded Corners 10">
            <a:extLst>
              <a:ext uri="{FF2B5EF4-FFF2-40B4-BE49-F238E27FC236}">
                <a16:creationId xmlns:a16="http://schemas.microsoft.com/office/drawing/2014/main" id="{12880A04-B61C-6345-67E2-36BC26EADFFC}"/>
              </a:ext>
            </a:extLst>
          </p:cNvPr>
          <p:cNvSpPr/>
          <p:nvPr/>
        </p:nvSpPr>
        <p:spPr>
          <a:xfrm>
            <a:off x="6223000" y="1587500"/>
            <a:ext cx="5334000" cy="4699000"/>
          </a:xfrm>
          <a:prstGeom prst="roundRect">
            <a:avLst>
              <a:gd name="adj" fmla="val 5000"/>
            </a:avLst>
          </a:prstGeom>
          <a:solidFill>
            <a:srgbClr val="F5F2ED"/>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018363DD-4089-B1D3-B8B4-6306065DC052}"/>
              </a:ext>
            </a:extLst>
          </p:cNvPr>
          <p:cNvSpPr txBox="1"/>
          <p:nvPr/>
        </p:nvSpPr>
        <p:spPr>
          <a:xfrm>
            <a:off x="6451600" y="1778000"/>
            <a:ext cx="4876800" cy="4493538"/>
          </a:xfrm>
          <a:prstGeom prst="rect">
            <a:avLst/>
          </a:prstGeom>
          <a:noFill/>
        </p:spPr>
        <p:txBody>
          <a:bodyPr vert="horz" wrap="square" rtlCol="0">
            <a:spAutoFit/>
          </a:bodyPr>
          <a:lstStyle/>
          <a:p>
            <a:r>
              <a:rPr lang="en-IN" sz="1300" b="1">
                <a:solidFill>
                  <a:srgbClr val="1A1A1A"/>
                </a:solidFill>
                <a:latin typeface="Segoe UI" panose="020B0502040204020203" pitchFamily="34" charset="0"/>
              </a:rPr>
              <a:t>Production Codebase Architecture
- server.py (812 lines, 31 KB):
  Primary FastAPI engine, MiniLM embeddings, TwoTierCache.
- index.html (114 KB):
  Single-page web playground, inspector, and telemetry HUD.
- evaluate_semantic_pooling.py (171 lines):
  22-pair semantic trap evaluation and threshold sweep matrix.
- benchmark.py (188 lines):
  Concurrency and latency percentile performance evaluator.
- prompt_cli.py (209 lines):
  Interactive terminal CLI for prompt querying and cache control.
- Phases 1 - 4/ (Stage A to Stage D servers &amp; tests).</a:t>
            </a:r>
          </a:p>
        </p:txBody>
      </p:sp>
    </p:spTree>
    <p:extLst>
      <p:ext uri="{BB962C8B-B14F-4D97-AF65-F5344CB8AC3E}">
        <p14:creationId xmlns:p14="http://schemas.microsoft.com/office/powerpoint/2010/main" val="2173624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556002-DD9C-C49B-BDA6-55B1634641B1}"/>
              </a:ext>
            </a:extLst>
          </p:cNvPr>
          <p:cNvSpPr/>
          <p:nvPr/>
        </p:nvSpPr>
        <p:spPr>
          <a:xfrm>
            <a:off x="0" y="0"/>
            <a:ext cx="12192000" cy="6858000"/>
          </a:xfrm>
          <a:prstGeom prst="rect">
            <a:avLst/>
          </a:prstGeom>
          <a:solidFill>
            <a:srgbClr val="FCF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DDC10C89-2B30-1BFB-1247-915BB90D78C5}"/>
              </a:ext>
            </a:extLst>
          </p:cNvPr>
          <p:cNvSpPr/>
          <p:nvPr/>
        </p:nvSpPr>
        <p:spPr>
          <a:xfrm>
            <a:off x="0" y="0"/>
            <a:ext cx="6096000" cy="50800"/>
          </a:xfrm>
          <a:prstGeom prst="rect">
            <a:avLst/>
          </a:prstGeom>
          <a:solidFill>
            <a:srgbClr val="7C8A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2B8F6146-9A74-0DD1-AA92-CFC8D9CE02F4}"/>
              </a:ext>
            </a:extLst>
          </p:cNvPr>
          <p:cNvSpPr/>
          <p:nvPr/>
        </p:nvSpPr>
        <p:spPr>
          <a:xfrm>
            <a:off x="6096000" y="0"/>
            <a:ext cx="6096000" cy="50800"/>
          </a:xfrm>
          <a:prstGeom prst="rect">
            <a:avLst/>
          </a:prstGeom>
          <a:solidFill>
            <a:srgbClr val="B36A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A50CE74-5A9E-02A6-4761-9F47284A5A7D}"/>
              </a:ext>
            </a:extLst>
          </p:cNvPr>
          <p:cNvSpPr txBox="1"/>
          <p:nvPr/>
        </p:nvSpPr>
        <p:spPr>
          <a:xfrm>
            <a:off x="508000" y="6527800"/>
            <a:ext cx="11176000" cy="138499"/>
          </a:xfrm>
          <a:prstGeom prst="rect">
            <a:avLst/>
          </a:prstGeom>
          <a:noFill/>
        </p:spPr>
        <p:txBody>
          <a:bodyPr vert="horz" wrap="square" lIns="0" tIns="0" rIns="0" bIns="0" rtlCol="0">
            <a:spAutoFit/>
          </a:bodyPr>
          <a:lstStyle/>
          <a:p>
            <a:r>
              <a:rPr lang="en-US" sz="900">
                <a:solidFill>
                  <a:srgbClr val="787770"/>
                </a:solidFill>
                <a:latin typeface="Segoe UI" panose="020B0502040204020203" pitchFamily="34" charset="0"/>
              </a:rPr>
              <a:t>Two-Tier LLM Caching and Inference Architecture  |  College Capstone Exam Defense  |  Slide 12 of 12</a:t>
            </a:r>
            <a:endParaRPr lang="en-IN" sz="900">
              <a:solidFill>
                <a:srgbClr val="787770"/>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632ADC96-DE4D-24F4-00E4-C3285FA7B1E9}"/>
              </a:ext>
            </a:extLst>
          </p:cNvPr>
          <p:cNvSpPr/>
          <p:nvPr/>
        </p:nvSpPr>
        <p:spPr>
          <a:xfrm>
            <a:off x="508000" y="279400"/>
            <a:ext cx="3543300" cy="279400"/>
          </a:xfrm>
          <a:prstGeom prst="roundRect">
            <a:avLst>
              <a:gd name="adj" fmla="val 50000"/>
            </a:avLst>
          </a:prstGeom>
          <a:solidFill>
            <a:srgbClr val="F5F2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IN" sz="850" b="1">
                <a:solidFill>
                  <a:srgbClr val="1A1A1A"/>
                </a:solidFill>
                <a:latin typeface="Segoe UI" panose="020B0502040204020203" pitchFamily="34" charset="0"/>
              </a:rPr>
              <a:t>CONCLUSION AND FUTURE ENHANCEMENTS</a:t>
            </a:r>
          </a:p>
        </p:txBody>
      </p:sp>
      <p:sp>
        <p:nvSpPr>
          <p:cNvPr id="7" name="TextBox 6">
            <a:extLst>
              <a:ext uri="{FF2B5EF4-FFF2-40B4-BE49-F238E27FC236}">
                <a16:creationId xmlns:a16="http://schemas.microsoft.com/office/drawing/2014/main" id="{6F5DDDC2-5E5E-6E10-0494-096A876045AC}"/>
              </a:ext>
            </a:extLst>
          </p:cNvPr>
          <p:cNvSpPr txBox="1"/>
          <p:nvPr/>
        </p:nvSpPr>
        <p:spPr>
          <a:xfrm>
            <a:off x="508000" y="609600"/>
            <a:ext cx="11176000" cy="338554"/>
          </a:xfrm>
          <a:prstGeom prst="rect">
            <a:avLst/>
          </a:prstGeom>
          <a:noFill/>
        </p:spPr>
        <p:txBody>
          <a:bodyPr vert="horz" wrap="square" lIns="0" tIns="0" rIns="0" bIns="0" rtlCol="0">
            <a:spAutoFit/>
          </a:bodyPr>
          <a:lstStyle/>
          <a:p>
            <a:r>
              <a:rPr lang="en-US" sz="2200" b="1">
                <a:solidFill>
                  <a:srgbClr val="1A1A1A"/>
                </a:solidFill>
                <a:latin typeface="Segoe UI" panose="020B0502040204020203" pitchFamily="34" charset="0"/>
              </a:rPr>
              <a:t>Summary, Key Contributions &amp; Future Roadmap</a:t>
            </a:r>
            <a:endParaRPr lang="en-IN" sz="2200" b="1">
              <a:solidFill>
                <a:srgbClr val="1A1A1A"/>
              </a:solidFill>
              <a:latin typeface="Segoe UI" panose="020B0502040204020203" pitchFamily="34" charset="0"/>
            </a:endParaRPr>
          </a:p>
        </p:txBody>
      </p:sp>
      <p:sp>
        <p:nvSpPr>
          <p:cNvPr id="8" name="TextBox 7">
            <a:extLst>
              <a:ext uri="{FF2B5EF4-FFF2-40B4-BE49-F238E27FC236}">
                <a16:creationId xmlns:a16="http://schemas.microsoft.com/office/drawing/2014/main" id="{5194A6BF-7AC5-163A-D835-AFE51E9AF70D}"/>
              </a:ext>
            </a:extLst>
          </p:cNvPr>
          <p:cNvSpPr txBox="1"/>
          <p:nvPr/>
        </p:nvSpPr>
        <p:spPr>
          <a:xfrm>
            <a:off x="508000" y="1066800"/>
            <a:ext cx="11176000" cy="169277"/>
          </a:xfrm>
          <a:prstGeom prst="rect">
            <a:avLst/>
          </a:prstGeom>
          <a:noFill/>
        </p:spPr>
        <p:txBody>
          <a:bodyPr vert="horz" wrap="square" lIns="0" tIns="0" rIns="0" bIns="0" rtlCol="0">
            <a:spAutoFit/>
          </a:bodyPr>
          <a:lstStyle/>
          <a:p>
            <a:r>
              <a:rPr lang="en-US" sz="1100">
                <a:solidFill>
                  <a:srgbClr val="5F5E5B"/>
                </a:solidFill>
                <a:latin typeface="Segoe UI" panose="020B0502040204020203" pitchFamily="34" charset="0"/>
              </a:rPr>
              <a:t>Architectural Significance and Extensibility for Large-Scale AI Deployment</a:t>
            </a:r>
            <a:endParaRPr lang="en-IN" sz="1100">
              <a:solidFill>
                <a:srgbClr val="5F5E5B"/>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4182C0D3-B891-39E7-5F8D-80AF91D7EBE1}"/>
              </a:ext>
            </a:extLst>
          </p:cNvPr>
          <p:cNvSpPr/>
          <p:nvPr/>
        </p:nvSpPr>
        <p:spPr>
          <a:xfrm>
            <a:off x="635000" y="1587500"/>
            <a:ext cx="5334000" cy="1905000"/>
          </a:xfrm>
          <a:prstGeom prst="roundRect">
            <a:avLst>
              <a:gd name="adj" fmla="val 5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F4C802C2-213A-A379-C21E-FDF066428D64}"/>
              </a:ext>
            </a:extLst>
          </p:cNvPr>
          <p:cNvSpPr txBox="1"/>
          <p:nvPr/>
        </p:nvSpPr>
        <p:spPr>
          <a:xfrm>
            <a:off x="863600" y="1778000"/>
            <a:ext cx="4876800" cy="1292662"/>
          </a:xfrm>
          <a:prstGeom prst="rect">
            <a:avLst/>
          </a:prstGeom>
          <a:noFill/>
        </p:spPr>
        <p:txBody>
          <a:bodyPr vert="horz" wrap="square" rtlCol="0">
            <a:spAutoFit/>
          </a:bodyPr>
          <a:lstStyle/>
          <a:p>
            <a:r>
              <a:rPr lang="en-US" sz="1300" b="1">
                <a:solidFill>
                  <a:srgbClr val="3E4A35"/>
                </a:solidFill>
                <a:latin typeface="Segoe UI" panose="020B0502040204020203" pitchFamily="34" charset="0"/>
              </a:rPr>
              <a:t>1. Sub-Millisecond Speedup
- Proved that 98%+ of repeated and paraphrased queries can be served in &lt;8ms with zero remote LLM execution.
- 79% reduction in p50 latency and 1.52x system throughput acceleration.</a:t>
            </a:r>
            <a:endParaRPr lang="en-IN" sz="1300" b="1">
              <a:solidFill>
                <a:srgbClr val="3E4A35"/>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510ABADC-52A4-B3E7-5F23-EEDB40537234}"/>
              </a:ext>
            </a:extLst>
          </p:cNvPr>
          <p:cNvSpPr/>
          <p:nvPr/>
        </p:nvSpPr>
        <p:spPr>
          <a:xfrm>
            <a:off x="6223000" y="1587500"/>
            <a:ext cx="5334000" cy="1905000"/>
          </a:xfrm>
          <a:prstGeom prst="roundRect">
            <a:avLst>
              <a:gd name="adj" fmla="val 5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5445AFD4-6687-C5A9-A782-CF031E28A6D8}"/>
              </a:ext>
            </a:extLst>
          </p:cNvPr>
          <p:cNvSpPr txBox="1"/>
          <p:nvPr/>
        </p:nvSpPr>
        <p:spPr>
          <a:xfrm>
            <a:off x="6451600" y="1778000"/>
            <a:ext cx="4876800" cy="1292662"/>
          </a:xfrm>
          <a:prstGeom prst="rect">
            <a:avLst/>
          </a:prstGeom>
          <a:noFill/>
        </p:spPr>
        <p:txBody>
          <a:bodyPr vert="horz" wrap="square" rtlCol="0">
            <a:spAutoFit/>
          </a:bodyPr>
          <a:lstStyle/>
          <a:p>
            <a:r>
              <a:rPr lang="en-IN" sz="1300" b="1">
                <a:solidFill>
                  <a:srgbClr val="71352B"/>
                </a:solidFill>
                <a:latin typeface="Segoe UI" panose="020B0502040204020203" pitchFamily="34" charset="0"/>
              </a:rPr>
              <a:t>2. Mathematically Proven Safety
- Discovered that tau = 0.90 achieves 100% Precision with zero false positives across tricky trap pairs.
- Eliminates semantic drift and entity swaps while retaining &gt;90% paraphrase recall.</a:t>
            </a:r>
          </a:p>
        </p:txBody>
      </p:sp>
      <p:sp>
        <p:nvSpPr>
          <p:cNvPr id="13" name="Rectangle: Rounded Corners 12">
            <a:extLst>
              <a:ext uri="{FF2B5EF4-FFF2-40B4-BE49-F238E27FC236}">
                <a16:creationId xmlns:a16="http://schemas.microsoft.com/office/drawing/2014/main" id="{CC856BA6-EB27-9D63-C17F-6C4F6686CA0A}"/>
              </a:ext>
            </a:extLst>
          </p:cNvPr>
          <p:cNvSpPr/>
          <p:nvPr/>
        </p:nvSpPr>
        <p:spPr>
          <a:xfrm>
            <a:off x="635000" y="3619500"/>
            <a:ext cx="5334000" cy="1905000"/>
          </a:xfrm>
          <a:prstGeom prst="roundRect">
            <a:avLst>
              <a:gd name="adj" fmla="val 5000"/>
            </a:avLst>
          </a:prstGeom>
          <a:solidFill>
            <a:srgbClr val="FFFFFF"/>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19DFD5A4-A340-EE86-8DEC-905E57F1A7B6}"/>
              </a:ext>
            </a:extLst>
          </p:cNvPr>
          <p:cNvSpPr txBox="1"/>
          <p:nvPr/>
        </p:nvSpPr>
        <p:spPr>
          <a:xfrm>
            <a:off x="863600" y="3810000"/>
            <a:ext cx="4876800" cy="1492716"/>
          </a:xfrm>
          <a:prstGeom prst="rect">
            <a:avLst/>
          </a:prstGeom>
          <a:noFill/>
        </p:spPr>
        <p:txBody>
          <a:bodyPr vert="horz" wrap="square" rtlCol="0">
            <a:spAutoFit/>
          </a:bodyPr>
          <a:lstStyle/>
          <a:p>
            <a:r>
              <a:rPr lang="en-IN" sz="1300" b="1">
                <a:solidFill>
                  <a:srgbClr val="1A1A1A"/>
                </a:solidFill>
                <a:latin typeface="Segoe UI" panose="020B0502040204020203" pitchFamily="34" charset="0"/>
              </a:rPr>
              <a:t>3. Enterprise Economics &amp; Green AI
- Drastically cuts token expenses across cloud providers.
- Avoids approximately 0.12g of CO2e per 1,000 avoided tokens.
- Live dashboard ROI widget quantifies financial and carbon impact.</a:t>
            </a:r>
          </a:p>
        </p:txBody>
      </p:sp>
      <p:sp>
        <p:nvSpPr>
          <p:cNvPr id="15" name="Rectangle: Rounded Corners 14">
            <a:extLst>
              <a:ext uri="{FF2B5EF4-FFF2-40B4-BE49-F238E27FC236}">
                <a16:creationId xmlns:a16="http://schemas.microsoft.com/office/drawing/2014/main" id="{9195F958-7AE4-2962-0923-67550A972C1A}"/>
              </a:ext>
            </a:extLst>
          </p:cNvPr>
          <p:cNvSpPr/>
          <p:nvPr/>
        </p:nvSpPr>
        <p:spPr>
          <a:xfrm>
            <a:off x="6223000" y="3619500"/>
            <a:ext cx="5334000" cy="1905000"/>
          </a:xfrm>
          <a:prstGeom prst="roundRect">
            <a:avLst>
              <a:gd name="adj" fmla="val 5000"/>
            </a:avLst>
          </a:prstGeom>
          <a:solidFill>
            <a:srgbClr val="F5F2ED"/>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D6A78E51-CC2D-31EC-2D9F-E53A2C88E024}"/>
              </a:ext>
            </a:extLst>
          </p:cNvPr>
          <p:cNvSpPr txBox="1"/>
          <p:nvPr/>
        </p:nvSpPr>
        <p:spPr>
          <a:xfrm>
            <a:off x="6451600" y="3810000"/>
            <a:ext cx="4876800" cy="1692771"/>
          </a:xfrm>
          <a:prstGeom prst="rect">
            <a:avLst/>
          </a:prstGeom>
          <a:noFill/>
        </p:spPr>
        <p:txBody>
          <a:bodyPr vert="horz" wrap="square" rtlCol="0">
            <a:spAutoFit/>
          </a:bodyPr>
          <a:lstStyle/>
          <a:p>
            <a:r>
              <a:rPr lang="en-IN" sz="1300" b="1">
                <a:solidFill>
                  <a:srgbClr val="3E4A35"/>
                </a:solidFill>
                <a:latin typeface="Segoe UI" panose="020B0502040204020203" pitchFamily="34" charset="0"/>
              </a:rPr>
              <a:t>4. Future Scope &amp; Roadmap
- Hierarchical Vector Indexing: Integrate FAISS / HNSW for million-scale cached vector search.
- Distributed Tier: Back Tier 1 &amp; 2 with Redis Cluster for multi-node deployments.
- Streaming Cache: Cache token chunks for Server-Sent Events (SSE).</a:t>
            </a:r>
          </a:p>
        </p:txBody>
      </p:sp>
      <p:sp>
        <p:nvSpPr>
          <p:cNvPr id="17" name="Rectangle: Rounded Corners 16">
            <a:extLst>
              <a:ext uri="{FF2B5EF4-FFF2-40B4-BE49-F238E27FC236}">
                <a16:creationId xmlns:a16="http://schemas.microsoft.com/office/drawing/2014/main" id="{F82BB3C2-D378-0EB1-1B1A-2FAD324C33B2}"/>
              </a:ext>
            </a:extLst>
          </p:cNvPr>
          <p:cNvSpPr/>
          <p:nvPr/>
        </p:nvSpPr>
        <p:spPr>
          <a:xfrm>
            <a:off x="635000" y="5651500"/>
            <a:ext cx="10922000" cy="698500"/>
          </a:xfrm>
          <a:prstGeom prst="roundRect">
            <a:avLst>
              <a:gd name="adj" fmla="val 4000"/>
            </a:avLst>
          </a:prstGeom>
          <a:solidFill>
            <a:srgbClr val="F0EDED"/>
          </a:solidFill>
          <a:ln w="12700">
            <a:solidFill>
              <a:srgbClr val="E5E2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59344754-7B5B-2EBC-1CC0-102E4D25968A}"/>
              </a:ext>
            </a:extLst>
          </p:cNvPr>
          <p:cNvSpPr txBox="1"/>
          <p:nvPr/>
        </p:nvSpPr>
        <p:spPr>
          <a:xfrm>
            <a:off x="825500" y="5740400"/>
            <a:ext cx="10541000" cy="276999"/>
          </a:xfrm>
          <a:prstGeom prst="rect">
            <a:avLst/>
          </a:prstGeom>
          <a:noFill/>
        </p:spPr>
        <p:txBody>
          <a:bodyPr vert="horz" wrap="square" rtlCol="0">
            <a:spAutoFit/>
          </a:bodyPr>
          <a:lstStyle/>
          <a:p>
            <a:r>
              <a:rPr lang="en-US" sz="1200" b="1" dirty="0">
                <a:solidFill>
                  <a:srgbClr val="1A1A1A"/>
                </a:solidFill>
                <a:latin typeface="Segoe UI" panose="020B0502040204020203" pitchFamily="34" charset="0"/>
              </a:rPr>
              <a:t>THANK YOU FOR YOUR TIME &amp; ATTENTION</a:t>
            </a:r>
            <a:endParaRPr lang="en-IN" sz="1200" b="1" dirty="0">
              <a:solidFill>
                <a:srgbClr val="1A1A1A"/>
              </a:solidFill>
              <a:latin typeface="Segoe UI" panose="020B0502040204020203" pitchFamily="34" charset="0"/>
            </a:endParaRPr>
          </a:p>
        </p:txBody>
      </p:sp>
    </p:spTree>
    <p:extLst>
      <p:ext uri="{BB962C8B-B14F-4D97-AF65-F5344CB8AC3E}">
        <p14:creationId xmlns:p14="http://schemas.microsoft.com/office/powerpoint/2010/main" val="20202686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4687</Words>
  <Application>Microsoft Office PowerPoint</Application>
  <PresentationFormat>Widescreen</PresentationFormat>
  <Paragraphs>200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Ved Shrimant</dc:creator>
  <cp:lastModifiedBy>Ved Shrimant</cp:lastModifiedBy>
  <cp:revision>1</cp:revision>
  <dcterms:created xsi:type="dcterms:W3CDTF">2026-10-29T13:21:26Z</dcterms:created>
  <dcterms:modified xsi:type="dcterms:W3CDTF">2026-10-30T02:48:54Z</dcterms:modified>
</cp:coreProperties>
</file>